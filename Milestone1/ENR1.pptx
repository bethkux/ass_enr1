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a6ed4d2f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a6ed4d2f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a2c848aa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a2c848aa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7e72fb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7e72fb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a2c848a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a2c848a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7e72fb6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a7e72fb6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2c848aa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a2c848aa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a7e72fb6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a7e72fb6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a2c848aa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a2c848aa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a7e72fb6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a7e72fb6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a2c848aa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a2c848aa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7e72fb6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a7e72fb6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a2c848aa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a2c848aa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a6ed4d2f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a6ed4d2f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a6ed4d2fe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a6ed4d2fe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a6ed4d2f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a6ed4d2f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a6ed4d2f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a6ed4d2f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a6ed4d2fe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a6ed4d2fe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a2c848aa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a2c848aa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a6ed4d2fe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a6ed4d2f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2c848a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a2c848a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676450"/>
            <a:ext cx="5017500" cy="8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Enrollment 1</a:t>
            </a:r>
            <a:endParaRPr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622850" y="3179500"/>
            <a:ext cx="3468000" cy="16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700"/>
              <a:t> </a:t>
            </a:r>
            <a:r>
              <a:rPr lang="sk" sz="1700"/>
              <a:t>Viet Bui</a:t>
            </a:r>
            <a:br>
              <a:rPr lang="sk" sz="1700"/>
            </a:br>
            <a:r>
              <a:rPr lang="sk" sz="1700"/>
              <a:t>         Erik Leššo</a:t>
            </a:r>
            <a:br>
              <a:rPr lang="sk" sz="1700"/>
            </a:br>
            <a:r>
              <a:rPr lang="sk" sz="1700"/>
              <a:t>                Khanh Duong </a:t>
            </a:r>
            <a:br>
              <a:rPr lang="sk" sz="1700"/>
            </a:br>
            <a:r>
              <a:rPr lang="sk" sz="1700"/>
              <a:t>                       </a:t>
            </a:r>
            <a:r>
              <a:rPr lang="sk" sz="1700"/>
              <a:t>Tomáš Vikiszály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700"/>
              <a:t>                              </a:t>
            </a:r>
            <a:r>
              <a:rPr lang="sk" sz="1700"/>
              <a:t>Alžbeta Kulichová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Overview of Features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244475"/>
            <a:ext cx="7038900" cy="3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Student's schedule preview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Student's schedule planning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Student's enrollment self-management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 profile update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 course recommendation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Teacher’s lectures management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Teacher – Communication via Email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Enrollment lock and notifications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Export of student personal data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Overview of Features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244475"/>
            <a:ext cx="7038900" cy="34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Student's schedule preview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Student's schedule planning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 u="sng"/>
              <a:t>Student's enrollment self-management</a:t>
            </a:r>
            <a:endParaRPr sz="2000" u="sng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 u="sng"/>
              <a:t>Student profile update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Student course recommendation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 u="sng"/>
              <a:t>Teacher’s lectures management</a:t>
            </a:r>
            <a:endParaRPr sz="2000" u="sng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/>
              <a:t>Teacher – Communication via Email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 u="sng"/>
              <a:t>Enrollment lock and notifications</a:t>
            </a:r>
            <a:endParaRPr sz="2000" u="sng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sk" sz="2000" u="sng"/>
              <a:t>Export of student personal data</a:t>
            </a:r>
            <a:endParaRPr sz="2000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Student's enrollment self-management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“As a student, I want a way to manage my enrollments, </a:t>
            </a:r>
            <a:br>
              <a:rPr lang="sk" sz="1600"/>
            </a:br>
            <a:r>
              <a:rPr lang="sk" sz="1600"/>
              <a:t>so that I can formally attend my classes.”</a:t>
            </a:r>
            <a:br>
              <a:rPr lang="sk" sz="1600"/>
            </a:b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Displays available lecture/practical tickets for that course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Lets Students to select ticket(s) for enrollment creation/cancellation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System validation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sk" sz="1600"/>
              <a:t>Updates database</a:t>
            </a:r>
            <a:endParaRPr sz="1600">
              <a:solidFill>
                <a:srgbClr val="F0F6FC"/>
              </a:solidFill>
              <a:highlight>
                <a:srgbClr val="0D111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085450" y="1307850"/>
            <a:ext cx="5463000" cy="78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2C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14300" y="1806625"/>
            <a:ext cx="563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b="1" sz="26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Student's enrollment self-management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624725" y="1935350"/>
            <a:ext cx="3825000" cy="24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Course collection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Load courses from the database.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Display available course options.</a:t>
            </a:r>
            <a:endParaRPr>
              <a:solidFill>
                <a:srgbClr val="F0F6FC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0F6F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Enrollment execution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Update the student’s schedule.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Update student enrollment records.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Update course ticket per enrollment change.</a:t>
            </a:r>
            <a:endParaRPr>
              <a:solidFill>
                <a:srgbClr val="F0F6FC"/>
              </a:solidFill>
            </a:endParaRPr>
          </a:p>
        </p:txBody>
      </p:sp>
      <p:sp>
        <p:nvSpPr>
          <p:cNvPr id="162" name="Google Shape;162;p17"/>
          <p:cNvSpPr txBox="1"/>
          <p:nvPr/>
        </p:nvSpPr>
        <p:spPr>
          <a:xfrm rot="354">
            <a:off x="1423615" y="1022294"/>
            <a:ext cx="2911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RESPONSIBILITIES</a:t>
            </a:r>
            <a:endParaRPr b="1" sz="2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4808888" y="1935350"/>
            <a:ext cx="3710400" cy="24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Notification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Send result confirmation notifications.</a:t>
            </a:r>
            <a:endParaRPr>
              <a:solidFill>
                <a:srgbClr val="F0F6FC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0F6F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Enrollment validation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Validate compliance with faculty rules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Verify prerequisites and course capacity.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Execute enrollment transaction safely.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Check for time conflicts.</a:t>
            </a:r>
            <a:endParaRPr>
              <a:solidFill>
                <a:srgbClr val="F0F6F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Student profile update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“</a:t>
            </a:r>
            <a:r>
              <a:rPr lang="sk" sz="1600"/>
              <a:t>As a student, I want to be able to view and edit my profile </a:t>
            </a:r>
            <a:br>
              <a:rPr lang="sk" sz="1600"/>
            </a:br>
            <a:r>
              <a:rPr lang="sk" sz="1600"/>
              <a:t>to see and correct my personal information without </a:t>
            </a:r>
            <a:br>
              <a:rPr lang="sk" sz="1600"/>
            </a:br>
            <a:r>
              <a:rPr lang="sk" sz="1600"/>
              <a:t>physically going to student department office.”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Lets Student modifies desired fields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System validation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sk" sz="1600"/>
              <a:t>Updates database</a:t>
            </a:r>
            <a:endParaRPr sz="1600"/>
          </a:p>
        </p:txBody>
      </p:sp>
      <p:sp>
        <p:nvSpPr>
          <p:cNvPr id="170" name="Google Shape;170;p18"/>
          <p:cNvSpPr/>
          <p:nvPr/>
        </p:nvSpPr>
        <p:spPr>
          <a:xfrm>
            <a:off x="2085450" y="1307850"/>
            <a:ext cx="5463000" cy="102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2C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14300" y="1806625"/>
            <a:ext cx="563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b="1" sz="26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Student profile update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469800" y="1867650"/>
            <a:ext cx="3765300" cy="25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Profile Retrieval Responsibilities</a:t>
            </a:r>
            <a:endParaRPr b="1" sz="105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Request profile data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Display stored profile data and enable 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edit mode.</a:t>
            </a:r>
            <a:endParaRPr>
              <a:solidFill>
                <a:srgbClr val="F0F6FC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0F6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Profile Editing Responsibilities</a:t>
            </a:r>
            <a:endParaRPr b="1" sz="105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Provide profile's editing fields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Save validated changes to the database.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Sort the students according to certain 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criteria (Name, Year, etc.)</a:t>
            </a:r>
            <a:endParaRPr>
              <a:solidFill>
                <a:srgbClr val="F0F6FC"/>
              </a:solidFill>
            </a:endParaRPr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4235100" y="1867650"/>
            <a:ext cx="4439100" cy="26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Profile Change Validation Responsibilities</a:t>
            </a:r>
            <a:endParaRPr b="1" sz="105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Validate changes to editable fields.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Indicate editable fields.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Check for restricted or sensitive data modifications.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Log all profile changes for compliance.</a:t>
            </a:r>
            <a:endParaRPr>
              <a:solidFill>
                <a:srgbClr val="F0F6FC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0F6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Notification R</a:t>
            </a:r>
            <a:r>
              <a:rPr b="1" lang="sk" sz="1500">
                <a:solidFill>
                  <a:srgbClr val="F0F6FC"/>
                </a:solidFill>
              </a:rPr>
              <a:t>esponsibilities</a:t>
            </a:r>
            <a:endParaRPr b="1" sz="1050">
              <a:solidFill>
                <a:srgbClr val="F0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Notify the SDO when sensitive data (e.g., IBAN, 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contact email) changes.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Send profile change summary notification to email</a:t>
            </a:r>
            <a:endParaRPr>
              <a:solidFill>
                <a:srgbClr val="F0F6FC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 rot="354">
            <a:off x="1423615" y="1022294"/>
            <a:ext cx="2911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RESPONSIBILITIES</a:t>
            </a:r>
            <a:endParaRPr b="1" sz="2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Teacher’s lectures management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“As a teacher, I want a way to create and manage my lectures</a:t>
            </a:r>
            <a:br>
              <a:rPr lang="sk" sz="1600"/>
            </a:br>
            <a:r>
              <a:rPr lang="sk" sz="1600"/>
              <a:t> so that can I plan and officially set up my lectures.”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br>
              <a:rPr lang="sk" sz="1600"/>
            </a:b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Lets teacher create a new lecture or edits an existing one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The system checks for time collisions or conflicts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sk" sz="1600"/>
              <a:t>Updates database</a:t>
            </a:r>
            <a:endParaRPr sz="1600"/>
          </a:p>
        </p:txBody>
      </p:sp>
      <p:sp>
        <p:nvSpPr>
          <p:cNvPr id="186" name="Google Shape;186;p20"/>
          <p:cNvSpPr/>
          <p:nvPr/>
        </p:nvSpPr>
        <p:spPr>
          <a:xfrm>
            <a:off x="1977300" y="1237825"/>
            <a:ext cx="5679300" cy="914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2C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14300" y="1806625"/>
            <a:ext cx="563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b="1" sz="26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Teacher’s lectures management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448725" y="1961650"/>
            <a:ext cx="4059600" cy="25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Lecture Management Responsibilities</a:t>
            </a:r>
            <a:endParaRPr b="1" sz="950"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Facilitate creation of new lectures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Display existing lectures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Allow editing of existing lectures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Update the teacher's list of taught courses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Log all lecture changes for reference.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Transmit changes to courses to the database.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Notify the affected students of the changes.</a:t>
            </a:r>
            <a:endParaRPr b="1" sz="1500">
              <a:solidFill>
                <a:srgbClr val="F0F6FC"/>
              </a:solidFill>
            </a:endParaRPr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4543587" y="1961650"/>
            <a:ext cx="4151700" cy="25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Management Authorization Responsibilities</a:t>
            </a:r>
            <a:endParaRPr b="1" sz="950"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Validate teacher permissions.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Allow granting permissions to other teachers 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for managing related course tickets</a:t>
            </a:r>
            <a:endParaRPr sz="1200">
              <a:solidFill>
                <a:srgbClr val="F0F6FC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Lecture Validation Responsibilities</a:t>
            </a:r>
            <a:endParaRPr b="1" sz="950"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Check for time conflicts and invalid entries.</a:t>
            </a:r>
            <a:endParaRPr>
              <a:solidFill>
                <a:srgbClr val="F0F6FC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Check for physical capacities of lecture rooms</a:t>
            </a:r>
            <a:endParaRPr b="1" sz="1500">
              <a:solidFill>
                <a:srgbClr val="F0F6FC"/>
              </a:solidFill>
            </a:endParaRPr>
          </a:p>
        </p:txBody>
      </p:sp>
      <p:sp>
        <p:nvSpPr>
          <p:cNvPr id="195" name="Google Shape;195;p21"/>
          <p:cNvSpPr txBox="1"/>
          <p:nvPr/>
        </p:nvSpPr>
        <p:spPr>
          <a:xfrm rot="354">
            <a:off x="1423615" y="1022294"/>
            <a:ext cx="2911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RESPONSIBILITIES</a:t>
            </a:r>
            <a:endParaRPr b="1" sz="2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Enrollment Lock and Notifications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“As a student department officer (SDO), I need the system</a:t>
            </a:r>
            <a:br>
              <a:rPr lang="sk" sz="1600"/>
            </a:br>
            <a:r>
              <a:rPr lang="sk" sz="1600"/>
              <a:t>to automatically lock enrollments and send notifications before</a:t>
            </a:r>
            <a:br>
              <a:rPr lang="sk" sz="1600"/>
            </a:br>
            <a:r>
              <a:rPr lang="sk" sz="1600"/>
              <a:t>and after the processing period, to ensure deadlines are followed.”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Lets SDO to  set the closing date for student enrollments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When the date is reached, the system disables new enrollments or modifications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sk" sz="1600"/>
              <a:t>The system sends confirmation emails to affected students and teachers.</a:t>
            </a:r>
            <a:endParaRPr sz="1600"/>
          </a:p>
        </p:txBody>
      </p:sp>
      <p:sp>
        <p:nvSpPr>
          <p:cNvPr id="202" name="Google Shape;202;p22"/>
          <p:cNvSpPr/>
          <p:nvPr/>
        </p:nvSpPr>
        <p:spPr>
          <a:xfrm>
            <a:off x="1685100" y="1307850"/>
            <a:ext cx="6263700" cy="102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82C7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514300" y="1806625"/>
            <a:ext cx="563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b="1" sz="26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5416600" y="2123050"/>
            <a:ext cx="3249900" cy="17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Notifications and </a:t>
            </a:r>
            <a:br>
              <a:rPr b="1" lang="sk" sz="1500">
                <a:solidFill>
                  <a:srgbClr val="F0F6FC"/>
                </a:solidFill>
              </a:rPr>
            </a:br>
            <a:r>
              <a:rPr b="1" lang="sk" sz="1500">
                <a:solidFill>
                  <a:srgbClr val="F0F6FC"/>
                </a:solidFill>
              </a:rPr>
              <a:t>override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Send confirmation emails to affected students and teachers.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Allow SDO to manually reopen 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or extend enrollment.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Record all actions in the audit log.</a:t>
            </a:r>
            <a:endParaRPr b="1" sz="1600">
              <a:solidFill>
                <a:srgbClr val="F0F6FC"/>
              </a:solidFill>
            </a:endParaRPr>
          </a:p>
        </p:txBody>
      </p:sp>
      <p:sp>
        <p:nvSpPr>
          <p:cNvPr id="209" name="Google Shape;20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Enrollment Lock and Notifications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3"/>
          <p:cNvSpPr txBox="1"/>
          <p:nvPr>
            <p:ph idx="1" type="body"/>
          </p:nvPr>
        </p:nvSpPr>
        <p:spPr>
          <a:xfrm>
            <a:off x="606400" y="1773850"/>
            <a:ext cx="4810200" cy="26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Enrollment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Allow SDO to set closing dates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Allow amendment of enrollment closing dates.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Schedule automatic system actions based on deadlines.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Validate configuration changes.</a:t>
            </a:r>
            <a:endParaRPr>
              <a:solidFill>
                <a:srgbClr val="F0F6F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Automated processing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Send pre-closure, closure, and post-closure notifications.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Disable new enrollments or modifications after deadline.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Process pending enrollments before full lock.</a:t>
            </a:r>
            <a:endParaRPr>
              <a:solidFill>
                <a:srgbClr val="F0F6F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0F6FC"/>
              </a:solidFill>
            </a:endParaRPr>
          </a:p>
        </p:txBody>
      </p:sp>
      <p:sp>
        <p:nvSpPr>
          <p:cNvPr id="211" name="Google Shape;211;p23"/>
          <p:cNvSpPr txBox="1"/>
          <p:nvPr/>
        </p:nvSpPr>
        <p:spPr>
          <a:xfrm rot="354">
            <a:off x="1423615" y="1022294"/>
            <a:ext cx="2911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RESPONSIBILITIES</a:t>
            </a:r>
            <a:endParaRPr b="1" sz="2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Export of Student Personal Data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1297500" y="13078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/>
              <a:t>“As a student department officer, I want to export student</a:t>
            </a:r>
            <a:br>
              <a:rPr lang="sk" sz="1600"/>
            </a:br>
            <a:r>
              <a:rPr lang="sk" sz="1600"/>
              <a:t>information so that I can share it easily with institutions,</a:t>
            </a:r>
            <a:br>
              <a:rPr lang="sk" sz="1600"/>
            </a:br>
            <a:r>
              <a:rPr lang="sk" sz="1600"/>
              <a:t> such as healthcare or government offices.”</a:t>
            </a:r>
            <a:endParaRPr sz="1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Lets SDO to select which data fields should be included in the export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sk" sz="1600"/>
              <a:t>Lets SDO to select the desired export format (e.g., CSV, XLSX, or PDF)</a:t>
            </a:r>
            <a:endParaRPr sz="1600"/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sk" sz="1600"/>
              <a:t>Generation of file</a:t>
            </a:r>
            <a:endParaRPr sz="1600"/>
          </a:p>
        </p:txBody>
      </p:sp>
      <p:sp>
        <p:nvSpPr>
          <p:cNvPr id="218" name="Google Shape;218;p24"/>
          <p:cNvSpPr/>
          <p:nvPr/>
        </p:nvSpPr>
        <p:spPr>
          <a:xfrm>
            <a:off x="2085450" y="1307850"/>
            <a:ext cx="5463000" cy="1026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514300" y="1806625"/>
            <a:ext cx="563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b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sk" sz="26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endParaRPr b="1" sz="26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8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Export of Student Personal Data</a:t>
            </a:r>
            <a:endParaRPr sz="28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5"/>
          <p:cNvSpPr txBox="1"/>
          <p:nvPr>
            <p:ph idx="1" type="body"/>
          </p:nvPr>
        </p:nvSpPr>
        <p:spPr>
          <a:xfrm>
            <a:off x="654988" y="1693250"/>
            <a:ext cx="4059600" cy="30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Data export responsibilities</a:t>
            </a:r>
            <a:endParaRPr b="1" sz="1500"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Provide access to the “Data Export” section.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Display available data categories for selection.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Allow to export in whichever format (CSV, XLSX, PDF).</a:t>
            </a:r>
            <a:endParaRPr>
              <a:solidFill>
                <a:srgbClr val="F0F6FC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Data validation responsibilities</a:t>
            </a:r>
            <a:endParaRPr b="1" sz="950"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Verify access permissions and visibility rules.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Compile and anonymize selected data fields.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Allow to only export selected data.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Generate the export file in the chosen format.</a:t>
            </a:r>
            <a:endParaRPr b="1" sz="1600">
              <a:solidFill>
                <a:srgbClr val="F0F6FC"/>
              </a:solidFill>
            </a:endParaRPr>
          </a:p>
        </p:txBody>
      </p:sp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4788201" y="1890100"/>
            <a:ext cx="3700800" cy="25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sk" sz="1500">
                <a:solidFill>
                  <a:srgbClr val="F0F6FC"/>
                </a:solidFill>
              </a:rPr>
              <a:t>Confirmation responsibilities</a:t>
            </a:r>
            <a:endParaRPr b="1" sz="950"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Enable file download for SDO.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Log the export event for compliance 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and tracking.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Show the progress of the export.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Notify the user of successful export 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completion.</a:t>
            </a:r>
            <a:endParaRPr>
              <a:solidFill>
                <a:srgbClr val="F0F6FC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300"/>
              <a:buFont typeface="Lato"/>
              <a:buChar char="●"/>
            </a:pPr>
            <a:r>
              <a:rPr lang="sk">
                <a:solidFill>
                  <a:srgbClr val="F0F6FC"/>
                </a:solidFill>
              </a:rPr>
              <a:t>Generate concise file name according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to some predefined criteria</a:t>
            </a:r>
            <a:br>
              <a:rPr lang="sk">
                <a:solidFill>
                  <a:srgbClr val="F0F6FC"/>
                </a:solidFill>
              </a:rPr>
            </a:br>
            <a:r>
              <a:rPr lang="sk">
                <a:solidFill>
                  <a:srgbClr val="F0F6FC"/>
                </a:solidFill>
              </a:rPr>
              <a:t>(Year, Category, etc.).</a:t>
            </a:r>
            <a:endParaRPr b="1" sz="1600">
              <a:solidFill>
                <a:srgbClr val="F0F6FC"/>
              </a:solidFill>
            </a:endParaRPr>
          </a:p>
        </p:txBody>
      </p:sp>
      <p:sp>
        <p:nvSpPr>
          <p:cNvPr id="227" name="Google Shape;227;p25"/>
          <p:cNvSpPr txBox="1"/>
          <p:nvPr/>
        </p:nvSpPr>
        <p:spPr>
          <a:xfrm rot="354">
            <a:off x="1423615" y="1022294"/>
            <a:ext cx="2911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22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RESPONSIBILITIES</a:t>
            </a:r>
            <a:endParaRPr b="1" sz="22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 rot="-493211">
            <a:off x="411410" y="2056683"/>
            <a:ext cx="1942962" cy="10302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System </a:t>
            </a:r>
            <a:b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sz="26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25" y="0"/>
            <a:ext cx="6429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 rot="-982190">
            <a:off x="101985" y="1910787"/>
            <a:ext cx="1969228" cy="1007689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3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Container </a:t>
            </a:r>
            <a:br>
              <a:rPr lang="sk" sz="23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23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diagram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9" name="Google Shape;2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863" y="0"/>
            <a:ext cx="749442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/>
          </a:blip>
          <a:srcRect b="0" l="0" r="0" t="3128"/>
          <a:stretch/>
        </p:blipFill>
        <p:spPr>
          <a:xfrm>
            <a:off x="2105100" y="9697"/>
            <a:ext cx="7038902" cy="5124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9200"/>
            <a:ext cx="9144003" cy="516240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/>
          <p:nvPr>
            <p:ph type="title"/>
          </p:nvPr>
        </p:nvSpPr>
        <p:spPr>
          <a:xfrm rot="-500866">
            <a:off x="330753" y="120037"/>
            <a:ext cx="1876279" cy="13135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25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L3:</a:t>
            </a:r>
            <a:br>
              <a:rPr lang="sk" sz="25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25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Course</a:t>
            </a:r>
            <a:br>
              <a:rPr lang="sk" sz="25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25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 sz="25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type="title"/>
          </p:nvPr>
        </p:nvSpPr>
        <p:spPr>
          <a:xfrm rot="-574316">
            <a:off x="567240" y="1790276"/>
            <a:ext cx="2217270" cy="169921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Dynamic </a:t>
            </a:r>
            <a:b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View: </a:t>
            </a:r>
            <a:b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Student’s</a:t>
            </a:r>
            <a:b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2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enrollment</a:t>
            </a:r>
            <a:endParaRPr b="1" sz="2600"/>
          </a:p>
        </p:txBody>
      </p: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712" y="0"/>
            <a:ext cx="5990277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 rot="-651426">
            <a:off x="414112" y="2114786"/>
            <a:ext cx="2330109" cy="913969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5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Deployment</a:t>
            </a:r>
            <a:endParaRPr sz="25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5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Diagram</a:t>
            </a:r>
            <a:endParaRPr sz="2500"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5173775" y="19071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1875" y="0"/>
            <a:ext cx="59821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3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Thank you for</a:t>
            </a:r>
            <a:br>
              <a:rPr lang="sk" sz="3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sk" sz="3600">
                <a:solidFill>
                  <a:srgbClr val="82C7A5"/>
                </a:solidFill>
                <a:latin typeface="Montserrat"/>
                <a:ea typeface="Montserrat"/>
                <a:cs typeface="Montserrat"/>
                <a:sym typeface="Montserrat"/>
              </a:rPr>
              <a:t>your attention</a:t>
            </a:r>
            <a:endParaRPr sz="3600">
              <a:solidFill>
                <a:srgbClr val="82C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idx="1" type="body"/>
          </p:nvPr>
        </p:nvSpPr>
        <p:spPr>
          <a:xfrm>
            <a:off x="1022725" y="1117225"/>
            <a:ext cx="8031000" cy="39105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latin typeface="Calibri"/>
                <a:ea typeface="Calibri"/>
                <a:cs typeface="Calibri"/>
                <a:sym typeface="Calibri"/>
              </a:rPr>
              <a:t>Presentation of your architecture (12-13mins long):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latin typeface="Calibri"/>
                <a:ea typeface="Calibri"/>
                <a:cs typeface="Calibri"/>
                <a:sym typeface="Calibri"/>
              </a:rPr>
              <a:t>- start with the name of your project and the names of the team members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 present an overview of the features (2mins)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- present an overview of the responsibilities based on the features (2mins)</a:t>
            </a:r>
            <a:endParaRPr sz="1500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--- present them grouped logically based on the groupings from the practicals</a:t>
            </a:r>
            <a:endParaRPr sz="1500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--- start with L1, then continue to L2, explain all containers and relationships between them (4mins)</a:t>
            </a:r>
            <a:endParaRPr sz="1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----- show who worked on what at the L2 level (no need to explain, just show it on the slides)</a:t>
            </a:r>
            <a:endParaRPr sz="1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--- select one or two most interesting containers from L2 and explain their components at L3 (2mins)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--- show one dynamic diagram and explain it shortly, show who worked on it (1mins)</a:t>
            </a:r>
            <a:endParaRPr sz="1500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latin typeface="Calibri"/>
                <a:ea typeface="Calibri"/>
                <a:cs typeface="Calibri"/>
                <a:sym typeface="Calibri"/>
              </a:rPr>
              <a:t>--- show one deployment diagram and explain it shortly, show who worked on it (2mins)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latin typeface="Calibri"/>
                <a:ea typeface="Calibri"/>
                <a:cs typeface="Calibri"/>
                <a:sym typeface="Calibri"/>
              </a:rPr>
              <a:t>Bui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Kuba</a:t>
            </a:r>
            <a:endParaRPr sz="1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Bety</a:t>
            </a:r>
            <a:endParaRPr sz="1500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Erik</a:t>
            </a:r>
            <a:endParaRPr sz="1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