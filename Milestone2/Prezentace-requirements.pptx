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Montserrat"/>
      <p:regular r:id="rId15"/>
      <p:bold r:id="rId16"/>
      <p:italic r:id="rId17"/>
      <p:boldItalic r:id="rId18"/>
    </p:embeddedFont>
    <p:embeddedFont>
      <p:font typeface="Lato"/>
      <p:regular r:id="rId19"/>
      <p:bold r:id="rId20"/>
      <p:italic r:id="rId21"/>
      <p:boldItalic r:id="rId22"/>
    </p:embeddedFont>
    <p:embeddedFont>
      <p:font typeface="Montserrat Black"/>
      <p:bold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24" Type="http://schemas.openxmlformats.org/officeDocument/2006/relationships/font" Target="fonts/MontserratBlack-boldItalic.fntdata"/><Relationship Id="rId12" Type="http://schemas.openxmlformats.org/officeDocument/2006/relationships/slide" Target="slides/slide7.xml"/><Relationship Id="rId23" Type="http://schemas.openxmlformats.org/officeDocument/2006/relationships/font" Target="fonts/MontserratBlack-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regular.fntdata"/><Relationship Id="rId14" Type="http://schemas.openxmlformats.org/officeDocument/2006/relationships/slide" Target="slides/slide9.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48608c90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48608c90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48689361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48689361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b48608c90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b48608c90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b48608c90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b48608c90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b486893617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b486893617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b59de8c58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b59de8c58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a2c848aa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aa2c848aa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aa6ed4d2fe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aa6ed4d2fe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s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s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676450"/>
            <a:ext cx="5017500" cy="1285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sk" sz="4888">
                <a:solidFill>
                  <a:srgbClr val="82C7A5"/>
                </a:solidFill>
                <a:latin typeface="Montserrat Black"/>
                <a:ea typeface="Montserrat Black"/>
                <a:cs typeface="Montserrat Black"/>
                <a:sym typeface="Montserrat Black"/>
              </a:rPr>
              <a:t>Schedule 2</a:t>
            </a:r>
            <a:endParaRPr sz="3888">
              <a:solidFill>
                <a:srgbClr val="82C7A5"/>
              </a:solidFill>
              <a:latin typeface="Montserrat Black"/>
              <a:ea typeface="Montserrat Black"/>
              <a:cs typeface="Montserrat Black"/>
              <a:sym typeface="Montserrat Black"/>
            </a:endParaRPr>
          </a:p>
          <a:p>
            <a:pPr indent="0" lvl="0" marL="0" rtl="0" algn="l">
              <a:spcBef>
                <a:spcPts val="0"/>
              </a:spcBef>
              <a:spcAft>
                <a:spcPts val="0"/>
              </a:spcAft>
              <a:buNone/>
            </a:pPr>
            <a:r>
              <a:rPr lang="sk" sz="3222">
                <a:solidFill>
                  <a:srgbClr val="82C7A5"/>
                </a:solidFill>
                <a:latin typeface="Montserrat Black"/>
                <a:ea typeface="Montserrat Black"/>
                <a:cs typeface="Montserrat Black"/>
                <a:sym typeface="Montserrat Black"/>
              </a:rPr>
              <a:t>( formerly </a:t>
            </a:r>
            <a:r>
              <a:rPr lang="sk" sz="3222">
                <a:solidFill>
                  <a:srgbClr val="82C7A5"/>
                </a:solidFill>
                <a:latin typeface="Montserrat Black"/>
                <a:ea typeface="Montserrat Black"/>
                <a:cs typeface="Montserrat Black"/>
                <a:sym typeface="Montserrat Black"/>
              </a:rPr>
              <a:t>ENR1 )</a:t>
            </a:r>
            <a:endParaRPr sz="3222">
              <a:solidFill>
                <a:srgbClr val="82C7A5"/>
              </a:solidFill>
              <a:latin typeface="Montserrat Black"/>
              <a:ea typeface="Montserrat Black"/>
              <a:cs typeface="Montserrat Black"/>
              <a:sym typeface="Montserrat Black"/>
            </a:endParaRPr>
          </a:p>
        </p:txBody>
      </p:sp>
      <p:sp>
        <p:nvSpPr>
          <p:cNvPr id="135" name="Google Shape;135;p13"/>
          <p:cNvSpPr txBox="1"/>
          <p:nvPr>
            <p:ph idx="1" type="subTitle"/>
          </p:nvPr>
        </p:nvSpPr>
        <p:spPr>
          <a:xfrm>
            <a:off x="3622850" y="3179500"/>
            <a:ext cx="3684600" cy="1612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sk" sz="1700"/>
              <a:t> </a:t>
            </a:r>
            <a:r>
              <a:rPr lang="sk" sz="1700"/>
              <a:t>Viet Bui</a:t>
            </a:r>
            <a:br>
              <a:rPr lang="sk" sz="1700"/>
            </a:br>
            <a:r>
              <a:rPr lang="sk" sz="1700"/>
              <a:t>         Erik Leššo</a:t>
            </a:r>
            <a:br>
              <a:rPr lang="sk" sz="1700"/>
            </a:br>
            <a:r>
              <a:rPr lang="sk" sz="1700"/>
              <a:t>                Khanh Duong </a:t>
            </a:r>
            <a:br>
              <a:rPr lang="sk" sz="1700"/>
            </a:br>
            <a:r>
              <a:rPr lang="sk" sz="1700"/>
              <a:t>                       </a:t>
            </a:r>
            <a:r>
              <a:rPr lang="sk" sz="1700"/>
              <a:t>Tomáš Vikiszály</a:t>
            </a:r>
            <a:endParaRPr sz="1700"/>
          </a:p>
          <a:p>
            <a:pPr indent="0" lvl="0" marL="0" rtl="0" algn="l">
              <a:lnSpc>
                <a:spcPct val="115000"/>
              </a:lnSpc>
              <a:spcBef>
                <a:spcPts val="0"/>
              </a:spcBef>
              <a:spcAft>
                <a:spcPts val="0"/>
              </a:spcAft>
              <a:buNone/>
            </a:pPr>
            <a:r>
              <a:rPr lang="sk" sz="1700"/>
              <a:t>                              </a:t>
            </a:r>
            <a:r>
              <a:rPr lang="sk" sz="1700"/>
              <a:t>Alžbeta Kulichová</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lang="sk" sz="2800">
                <a:solidFill>
                  <a:srgbClr val="82C7A5"/>
                </a:solidFill>
                <a:latin typeface="Montserrat Black"/>
                <a:ea typeface="Montserrat Black"/>
                <a:cs typeface="Montserrat Black"/>
                <a:sym typeface="Montserrat Black"/>
              </a:rPr>
              <a:t>Overview of quality requirements</a:t>
            </a:r>
            <a:endParaRPr sz="2800">
              <a:solidFill>
                <a:srgbClr val="82C7A5"/>
              </a:solidFill>
              <a:latin typeface="Montserrat Black"/>
              <a:ea typeface="Montserrat Black"/>
              <a:cs typeface="Montserrat Black"/>
              <a:sym typeface="Montserrat Black"/>
            </a:endParaRPr>
          </a:p>
        </p:txBody>
      </p:sp>
      <p:sp>
        <p:nvSpPr>
          <p:cNvPr id="141" name="Google Shape;141;p14"/>
          <p:cNvSpPr txBox="1"/>
          <p:nvPr>
            <p:ph idx="1" type="body"/>
          </p:nvPr>
        </p:nvSpPr>
        <p:spPr>
          <a:xfrm>
            <a:off x="1297500" y="1244475"/>
            <a:ext cx="7038900" cy="36369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1000"/>
              </a:spcBef>
              <a:spcAft>
                <a:spcPts val="0"/>
              </a:spcAft>
              <a:buSzPts val="1400"/>
              <a:buChar char="●"/>
            </a:pPr>
            <a:r>
              <a:rPr lang="sk" sz="1400"/>
              <a:t>Modifiability</a:t>
            </a:r>
            <a:endParaRPr sz="1400"/>
          </a:p>
          <a:p>
            <a:pPr indent="-317500" lvl="1" marL="914400" rtl="0" algn="l">
              <a:lnSpc>
                <a:spcPct val="100000"/>
              </a:lnSpc>
              <a:spcBef>
                <a:spcPts val="0"/>
              </a:spcBef>
              <a:spcAft>
                <a:spcPts val="0"/>
              </a:spcAft>
              <a:buSzPts val="1400"/>
              <a:buChar char="○"/>
            </a:pPr>
            <a:r>
              <a:rPr lang="sk" sz="1400"/>
              <a:t>Scenario: Add a new conflict rule</a:t>
            </a:r>
            <a:endParaRPr sz="1400"/>
          </a:p>
          <a:p>
            <a:pPr indent="-317500" lvl="0" marL="457200" rtl="0" algn="l">
              <a:lnSpc>
                <a:spcPct val="100000"/>
              </a:lnSpc>
              <a:spcBef>
                <a:spcPts val="0"/>
              </a:spcBef>
              <a:spcAft>
                <a:spcPts val="0"/>
              </a:spcAft>
              <a:buSzPts val="1400"/>
              <a:buChar char="●"/>
            </a:pPr>
            <a:r>
              <a:rPr lang="sk" sz="1400"/>
              <a:t>Testability</a:t>
            </a:r>
            <a:endParaRPr sz="1400"/>
          </a:p>
          <a:p>
            <a:pPr indent="-317500" lvl="1" marL="914400" rtl="0" algn="l">
              <a:lnSpc>
                <a:spcPct val="100000"/>
              </a:lnSpc>
              <a:spcBef>
                <a:spcPts val="0"/>
              </a:spcBef>
              <a:spcAft>
                <a:spcPts val="0"/>
              </a:spcAft>
              <a:buSzPts val="1400"/>
              <a:buChar char="○"/>
            </a:pPr>
            <a:r>
              <a:rPr lang="sk" sz="1400"/>
              <a:t>Scenario: Testing of new course statistics </a:t>
            </a:r>
            <a:endParaRPr sz="1400"/>
          </a:p>
          <a:p>
            <a:pPr indent="-317500" lvl="1" marL="914400" rtl="0" algn="l">
              <a:lnSpc>
                <a:spcPct val="100000"/>
              </a:lnSpc>
              <a:spcBef>
                <a:spcPts val="0"/>
              </a:spcBef>
              <a:spcAft>
                <a:spcPts val="0"/>
              </a:spcAft>
              <a:buSzPts val="1400"/>
              <a:buChar char="○"/>
            </a:pPr>
            <a:r>
              <a:rPr b="1" lang="sk" sz="1400" u="sng"/>
              <a:t>Scenario: Testing of scheduling - Tomáš</a:t>
            </a:r>
            <a:endParaRPr b="1" sz="1400" u="sng"/>
          </a:p>
          <a:p>
            <a:pPr indent="-317500" lvl="0" marL="457200" rtl="0" algn="l">
              <a:lnSpc>
                <a:spcPct val="100000"/>
              </a:lnSpc>
              <a:spcBef>
                <a:spcPts val="0"/>
              </a:spcBef>
              <a:spcAft>
                <a:spcPts val="0"/>
              </a:spcAft>
              <a:buSzPts val="1400"/>
              <a:buChar char="●"/>
            </a:pPr>
            <a:r>
              <a:rPr lang="sk" sz="1400"/>
              <a:t>Performance</a:t>
            </a:r>
            <a:endParaRPr sz="1400"/>
          </a:p>
          <a:p>
            <a:pPr indent="-317500" lvl="1" marL="914400" rtl="0" algn="l">
              <a:lnSpc>
                <a:spcPct val="100000"/>
              </a:lnSpc>
              <a:spcBef>
                <a:spcPts val="0"/>
              </a:spcBef>
              <a:spcAft>
                <a:spcPts val="0"/>
              </a:spcAft>
              <a:buSzPts val="1400"/>
              <a:buChar char="○"/>
            </a:pPr>
            <a:r>
              <a:rPr b="1" lang="sk" sz="1400" u="sng"/>
              <a:t>Scenario: Mass schedule viewing - Bety</a:t>
            </a:r>
            <a:endParaRPr b="1" sz="1400" u="sng"/>
          </a:p>
          <a:p>
            <a:pPr indent="-317500" lvl="1" marL="914400" rtl="0" algn="l">
              <a:lnSpc>
                <a:spcPct val="100000"/>
              </a:lnSpc>
              <a:spcBef>
                <a:spcPts val="0"/>
              </a:spcBef>
              <a:spcAft>
                <a:spcPts val="0"/>
              </a:spcAft>
              <a:buSzPts val="1400"/>
              <a:buChar char="○"/>
            </a:pPr>
            <a:r>
              <a:rPr lang="sk" sz="1400"/>
              <a:t>Scenario: Repeated statistics queries</a:t>
            </a:r>
            <a:endParaRPr sz="1400"/>
          </a:p>
          <a:p>
            <a:pPr indent="-317500" lvl="0" marL="457200" rtl="0" algn="l">
              <a:lnSpc>
                <a:spcPct val="100000"/>
              </a:lnSpc>
              <a:spcBef>
                <a:spcPts val="0"/>
              </a:spcBef>
              <a:spcAft>
                <a:spcPts val="0"/>
              </a:spcAft>
              <a:buSzPts val="1400"/>
              <a:buChar char="●"/>
            </a:pPr>
            <a:r>
              <a:rPr lang="sk" sz="1400"/>
              <a:t>Availability</a:t>
            </a:r>
            <a:endParaRPr sz="1400"/>
          </a:p>
          <a:p>
            <a:pPr indent="-317500" lvl="1" marL="914400" rtl="0" algn="l">
              <a:lnSpc>
                <a:spcPct val="100000"/>
              </a:lnSpc>
              <a:spcBef>
                <a:spcPts val="0"/>
              </a:spcBef>
              <a:spcAft>
                <a:spcPts val="0"/>
              </a:spcAft>
              <a:buSzPts val="1400"/>
              <a:buChar char="○"/>
            </a:pPr>
            <a:r>
              <a:rPr b="1" lang="sk" sz="1400" u="sng"/>
              <a:t>Scenario: Notification Service Availability - Bui</a:t>
            </a:r>
            <a:endParaRPr b="1" sz="1400" u="sng"/>
          </a:p>
          <a:p>
            <a:pPr indent="-317500" lvl="0" marL="457200" rtl="0" algn="l">
              <a:lnSpc>
                <a:spcPct val="100000"/>
              </a:lnSpc>
              <a:spcBef>
                <a:spcPts val="0"/>
              </a:spcBef>
              <a:spcAft>
                <a:spcPts val="0"/>
              </a:spcAft>
              <a:buSzPts val="1400"/>
              <a:buChar char="●"/>
            </a:pPr>
            <a:r>
              <a:rPr lang="sk" sz="1400"/>
              <a:t>Scalability</a:t>
            </a:r>
            <a:endParaRPr sz="1400"/>
          </a:p>
          <a:p>
            <a:pPr indent="-317500" lvl="1" marL="914400" rtl="0" algn="l">
              <a:lnSpc>
                <a:spcPct val="100000"/>
              </a:lnSpc>
              <a:spcBef>
                <a:spcPts val="0"/>
              </a:spcBef>
              <a:spcAft>
                <a:spcPts val="0"/>
              </a:spcAft>
              <a:buSzPts val="1400"/>
              <a:buChar char="○"/>
            </a:pPr>
            <a:r>
              <a:rPr b="1" lang="sk" sz="1400" u="sng"/>
              <a:t>Scenario: Add new statistics category - Kuba</a:t>
            </a:r>
            <a:endParaRPr b="1" sz="1400" u="sng"/>
          </a:p>
          <a:p>
            <a:pPr indent="-317500" lvl="1" marL="914400" rtl="0" algn="l">
              <a:lnSpc>
                <a:spcPct val="100000"/>
              </a:lnSpc>
              <a:spcBef>
                <a:spcPts val="0"/>
              </a:spcBef>
              <a:spcAft>
                <a:spcPts val="0"/>
              </a:spcAft>
              <a:buSzPts val="1400"/>
              <a:buChar char="○"/>
            </a:pPr>
            <a:r>
              <a:rPr lang="sk" sz="1400"/>
              <a:t>Scenario: Growing number of users for schedule viewing</a:t>
            </a:r>
            <a:endParaRPr sz="1400"/>
          </a:p>
          <a:p>
            <a:pPr indent="-317500" lvl="0" marL="457200" rtl="0" algn="l">
              <a:lnSpc>
                <a:spcPct val="100000"/>
              </a:lnSpc>
              <a:spcBef>
                <a:spcPts val="0"/>
              </a:spcBef>
              <a:spcAft>
                <a:spcPts val="0"/>
              </a:spcAft>
              <a:buSzPts val="1400"/>
              <a:buChar char="●"/>
            </a:pPr>
            <a:r>
              <a:rPr lang="sk" sz="1400"/>
              <a:t>Security</a:t>
            </a:r>
            <a:endParaRPr sz="1400"/>
          </a:p>
          <a:p>
            <a:pPr indent="-317500" lvl="1" marL="914400" rtl="0" algn="l">
              <a:lnSpc>
                <a:spcPct val="100000"/>
              </a:lnSpc>
              <a:spcBef>
                <a:spcPts val="0"/>
              </a:spcBef>
              <a:spcAft>
                <a:spcPts val="0"/>
              </a:spcAft>
              <a:buSzPts val="1400"/>
              <a:buChar char="○"/>
            </a:pPr>
            <a:r>
              <a:rPr b="1" lang="sk" sz="1400" u="sng"/>
              <a:t>Scenario: Unauthorized course modification - Erik</a:t>
            </a:r>
            <a:endParaRPr b="1" sz="1400" u="sng"/>
          </a:p>
          <a:p>
            <a:pPr indent="-317500" lvl="1" marL="914400" rtl="0" algn="l">
              <a:lnSpc>
                <a:spcPct val="100000"/>
              </a:lnSpc>
              <a:spcBef>
                <a:spcPts val="0"/>
              </a:spcBef>
              <a:spcAft>
                <a:spcPts val="0"/>
              </a:spcAft>
              <a:buSzPts val="1400"/>
              <a:buChar char="○"/>
            </a:pPr>
            <a:r>
              <a:rPr lang="sk" sz="1400"/>
              <a:t>Scenario: Stolen access token used by attacker</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b="1" lang="sk" sz="2800">
                <a:solidFill>
                  <a:schemeClr val="lt2"/>
                </a:solidFill>
              </a:rPr>
              <a:t>Testing of scheduling</a:t>
            </a:r>
            <a:endParaRPr sz="2800">
              <a:solidFill>
                <a:schemeClr val="lt2"/>
              </a:solidFill>
              <a:latin typeface="Montserrat Black"/>
              <a:ea typeface="Montserrat Black"/>
              <a:cs typeface="Montserrat Black"/>
              <a:sym typeface="Montserrat Black"/>
            </a:endParaRPr>
          </a:p>
        </p:txBody>
      </p:sp>
      <p:sp>
        <p:nvSpPr>
          <p:cNvPr id="147" name="Google Shape;147;p15"/>
          <p:cNvSpPr txBox="1"/>
          <p:nvPr>
            <p:ph idx="1" type="body"/>
          </p:nvPr>
        </p:nvSpPr>
        <p:spPr>
          <a:xfrm>
            <a:off x="1202675" y="223230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500"/>
          </a:p>
          <a:p>
            <a:pPr indent="-323850" lvl="0" marL="457200" rtl="0" algn="l">
              <a:spcBef>
                <a:spcPts val="1200"/>
              </a:spcBef>
              <a:spcAft>
                <a:spcPts val="0"/>
              </a:spcAft>
              <a:buSzPts val="1500"/>
              <a:buChar char="●"/>
            </a:pPr>
            <a:r>
              <a:rPr lang="sk" sz="1500"/>
              <a:t>scheduling and conflict logic are tested without using UI or database (Unit tests)</a:t>
            </a:r>
            <a:endParaRPr sz="1500"/>
          </a:p>
          <a:p>
            <a:pPr indent="-323850" lvl="0" marL="457200" rtl="0" algn="l">
              <a:spcBef>
                <a:spcPts val="0"/>
              </a:spcBef>
              <a:spcAft>
                <a:spcPts val="0"/>
              </a:spcAft>
              <a:buSzPts val="1500"/>
              <a:buChar char="●"/>
            </a:pPr>
            <a:r>
              <a:rPr lang="sk" sz="1500"/>
              <a:t>tests are deterministic and fast</a:t>
            </a:r>
            <a:endParaRPr sz="1500"/>
          </a:p>
          <a:p>
            <a:pPr indent="-323850" lvl="0" marL="457200" rtl="0" algn="l">
              <a:spcBef>
                <a:spcPts val="0"/>
              </a:spcBef>
              <a:spcAft>
                <a:spcPts val="0"/>
              </a:spcAft>
              <a:buSzPts val="1500"/>
              <a:buChar char="●"/>
            </a:pPr>
            <a:r>
              <a:rPr lang="sk" sz="1500"/>
              <a:t>Solution: no need to modify architecture as there is a separation between business logic and infrastructure</a:t>
            </a:r>
            <a:endParaRPr sz="1500"/>
          </a:p>
        </p:txBody>
      </p:sp>
      <p:sp>
        <p:nvSpPr>
          <p:cNvPr id="148" name="Google Shape;148;p15"/>
          <p:cNvSpPr txBox="1"/>
          <p:nvPr/>
        </p:nvSpPr>
        <p:spPr>
          <a:xfrm rot="-5399233">
            <a:off x="-563277" y="2609787"/>
            <a:ext cx="2687700" cy="69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400"/>
              </a:spcAft>
              <a:buNone/>
            </a:pPr>
            <a:r>
              <a:rPr b="1" lang="sk" sz="2500">
                <a:solidFill>
                  <a:schemeClr val="lt2"/>
                </a:solidFill>
              </a:rPr>
              <a:t>TESTABILITY</a:t>
            </a:r>
            <a:endParaRPr b="1" sz="2500">
              <a:solidFill>
                <a:schemeClr val="lt2"/>
              </a:solidFill>
              <a:latin typeface="Montserrat"/>
              <a:ea typeface="Montserrat"/>
              <a:cs typeface="Montserrat"/>
              <a:sym typeface="Montserrat"/>
            </a:endParaRPr>
          </a:p>
        </p:txBody>
      </p:sp>
      <p:sp>
        <p:nvSpPr>
          <p:cNvPr id="149" name="Google Shape;149;p15"/>
          <p:cNvSpPr/>
          <p:nvPr/>
        </p:nvSpPr>
        <p:spPr>
          <a:xfrm>
            <a:off x="1153300" y="1018813"/>
            <a:ext cx="1089300" cy="81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k">
                <a:solidFill>
                  <a:schemeClr val="lt1"/>
                </a:solidFill>
                <a:latin typeface="Lato"/>
                <a:ea typeface="Lato"/>
                <a:cs typeface="Lato"/>
                <a:sym typeface="Lato"/>
              </a:rPr>
              <a:t>System Tester</a:t>
            </a:r>
            <a:endParaRPr>
              <a:solidFill>
                <a:schemeClr val="lt1"/>
              </a:solidFill>
              <a:latin typeface="Lato"/>
              <a:ea typeface="Lato"/>
              <a:cs typeface="Lato"/>
              <a:sym typeface="Lato"/>
            </a:endParaRPr>
          </a:p>
        </p:txBody>
      </p:sp>
      <p:sp>
        <p:nvSpPr>
          <p:cNvPr id="150" name="Google Shape;150;p15"/>
          <p:cNvSpPr/>
          <p:nvPr/>
        </p:nvSpPr>
        <p:spPr>
          <a:xfrm>
            <a:off x="2242600" y="1250688"/>
            <a:ext cx="1742100" cy="166500"/>
          </a:xfrm>
          <a:prstGeom prst="rightArrow">
            <a:avLst>
              <a:gd fmla="val 28" name="adj1"/>
              <a:gd fmla="val 6211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Lato"/>
              <a:ea typeface="Lato"/>
              <a:cs typeface="Lato"/>
              <a:sym typeface="Lato"/>
            </a:endParaRPr>
          </a:p>
        </p:txBody>
      </p:sp>
      <p:sp>
        <p:nvSpPr>
          <p:cNvPr id="151" name="Google Shape;151;p15"/>
          <p:cNvSpPr txBox="1"/>
          <p:nvPr/>
        </p:nvSpPr>
        <p:spPr>
          <a:xfrm>
            <a:off x="2242600" y="1445338"/>
            <a:ext cx="1742100" cy="4764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sk" sz="1300">
                <a:solidFill>
                  <a:schemeClr val="lt1"/>
                </a:solidFill>
                <a:latin typeface="Lato"/>
                <a:ea typeface="Lato"/>
                <a:cs typeface="Lato"/>
                <a:sym typeface="Lato"/>
              </a:rPr>
              <a:t>runs tests</a:t>
            </a:r>
            <a:endParaRPr sz="1300">
              <a:solidFill>
                <a:schemeClr val="lt1"/>
              </a:solidFill>
              <a:latin typeface="Lato"/>
              <a:ea typeface="Lato"/>
              <a:cs typeface="Lato"/>
              <a:sym typeface="Lato"/>
            </a:endParaRPr>
          </a:p>
        </p:txBody>
      </p:sp>
      <p:sp>
        <p:nvSpPr>
          <p:cNvPr id="152" name="Google Shape;152;p15"/>
          <p:cNvSpPr/>
          <p:nvPr/>
        </p:nvSpPr>
        <p:spPr>
          <a:xfrm>
            <a:off x="3984600" y="1018825"/>
            <a:ext cx="1166100" cy="81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k">
                <a:solidFill>
                  <a:schemeClr val="lt1"/>
                </a:solidFill>
                <a:latin typeface="Lato"/>
                <a:ea typeface="Lato"/>
                <a:cs typeface="Lato"/>
                <a:sym typeface="Lato"/>
              </a:rPr>
              <a:t>Scheduling Service</a:t>
            </a:r>
            <a:endParaRPr>
              <a:solidFill>
                <a:schemeClr val="lt1"/>
              </a:solidFill>
              <a:latin typeface="Lato"/>
              <a:ea typeface="Lato"/>
              <a:cs typeface="Lato"/>
              <a:sym typeface="Lato"/>
            </a:endParaRPr>
          </a:p>
        </p:txBody>
      </p:sp>
      <p:sp>
        <p:nvSpPr>
          <p:cNvPr id="153" name="Google Shape;153;p15"/>
          <p:cNvSpPr/>
          <p:nvPr/>
        </p:nvSpPr>
        <p:spPr>
          <a:xfrm>
            <a:off x="5150600" y="1250688"/>
            <a:ext cx="1742100" cy="166500"/>
          </a:xfrm>
          <a:prstGeom prst="rightArrow">
            <a:avLst>
              <a:gd fmla="val 28" name="adj1"/>
              <a:gd fmla="val 6211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Lato"/>
              <a:ea typeface="Lato"/>
              <a:cs typeface="Lato"/>
              <a:sym typeface="Lato"/>
            </a:endParaRPr>
          </a:p>
        </p:txBody>
      </p:sp>
      <p:sp>
        <p:nvSpPr>
          <p:cNvPr id="154" name="Google Shape;154;p15"/>
          <p:cNvSpPr txBox="1"/>
          <p:nvPr/>
        </p:nvSpPr>
        <p:spPr>
          <a:xfrm>
            <a:off x="5150600" y="1445338"/>
            <a:ext cx="1742100" cy="47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sk" sz="1300">
                <a:solidFill>
                  <a:schemeClr val="lt1"/>
                </a:solidFill>
                <a:latin typeface="Lato"/>
                <a:ea typeface="Lato"/>
                <a:cs typeface="Lato"/>
                <a:sym typeface="Lato"/>
              </a:rPr>
              <a:t>tested on dummy data instead of database</a:t>
            </a:r>
            <a:endParaRPr sz="1300">
              <a:solidFill>
                <a:schemeClr val="lt1"/>
              </a:solidFill>
              <a:latin typeface="Lato"/>
              <a:ea typeface="Lato"/>
              <a:cs typeface="Lato"/>
              <a:sym typeface="Lato"/>
            </a:endParaRPr>
          </a:p>
        </p:txBody>
      </p:sp>
      <p:sp>
        <p:nvSpPr>
          <p:cNvPr id="155" name="Google Shape;155;p15"/>
          <p:cNvSpPr/>
          <p:nvPr/>
        </p:nvSpPr>
        <p:spPr>
          <a:xfrm>
            <a:off x="6892700" y="1018813"/>
            <a:ext cx="1587900" cy="81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k">
                <a:solidFill>
                  <a:schemeClr val="lt1"/>
                </a:solidFill>
                <a:latin typeface="Lato"/>
                <a:ea typeface="Lato"/>
                <a:cs typeface="Lato"/>
                <a:sym typeface="Lato"/>
              </a:rPr>
              <a:t>100% repeatable test results</a:t>
            </a:r>
            <a:endParaRPr>
              <a:solidFill>
                <a:schemeClr val="lt1"/>
              </a:solidFill>
              <a:latin typeface="Lato"/>
              <a:ea typeface="Lato"/>
              <a:cs typeface="Lato"/>
              <a:sym typeface="Lato"/>
            </a:endParaRPr>
          </a:p>
        </p:txBody>
      </p:sp>
      <p:sp>
        <p:nvSpPr>
          <p:cNvPr id="156" name="Google Shape;156;p15"/>
          <p:cNvSpPr txBox="1"/>
          <p:nvPr/>
        </p:nvSpPr>
        <p:spPr>
          <a:xfrm>
            <a:off x="3696600" y="1896963"/>
            <a:ext cx="1742100" cy="4764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sk" sz="1300">
                <a:solidFill>
                  <a:schemeClr val="lt1"/>
                </a:solidFill>
                <a:latin typeface="Lato"/>
                <a:ea typeface="Lato"/>
                <a:cs typeface="Lato"/>
                <a:sym typeface="Lato"/>
              </a:rPr>
              <a:t>Testing Environment</a:t>
            </a:r>
            <a:endParaRPr sz="1300">
              <a:solidFill>
                <a:schemeClr val="l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b="1" lang="sk" sz="2800">
                <a:solidFill>
                  <a:srgbClr val="82C7A5"/>
                </a:solidFill>
              </a:rPr>
              <a:t>Mass schedule viewing</a:t>
            </a:r>
            <a:endParaRPr b="1" sz="2800">
              <a:solidFill>
                <a:srgbClr val="82C7A5"/>
              </a:solidFill>
            </a:endParaRPr>
          </a:p>
        </p:txBody>
      </p:sp>
      <p:sp>
        <p:nvSpPr>
          <p:cNvPr id="162" name="Google Shape;162;p16"/>
          <p:cNvSpPr txBox="1"/>
          <p:nvPr>
            <p:ph idx="1" type="body"/>
          </p:nvPr>
        </p:nvSpPr>
        <p:spPr>
          <a:xfrm>
            <a:off x="1297500" y="2149075"/>
            <a:ext cx="4176900" cy="25182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1000"/>
              </a:spcBef>
              <a:spcAft>
                <a:spcPts val="0"/>
              </a:spcAft>
              <a:buSzPts val="1400"/>
              <a:buChar char="●"/>
            </a:pPr>
            <a:r>
              <a:rPr lang="sk" sz="1400"/>
              <a:t>when timetable is published, thousands of students request schedules at the same time</a:t>
            </a:r>
            <a:endParaRPr sz="1400"/>
          </a:p>
          <a:p>
            <a:pPr indent="-317500" lvl="0" marL="457200" rtl="0" algn="l">
              <a:lnSpc>
                <a:spcPct val="100000"/>
              </a:lnSpc>
              <a:spcBef>
                <a:spcPts val="0"/>
              </a:spcBef>
              <a:spcAft>
                <a:spcPts val="0"/>
              </a:spcAft>
              <a:buSzPts val="1400"/>
              <a:buChar char="●"/>
            </a:pPr>
            <a:r>
              <a:rPr lang="sk" sz="1400"/>
              <a:t>the Schedule Viewer Service is replicated and stateless, so requests are distributed evenly</a:t>
            </a:r>
            <a:endParaRPr sz="1400"/>
          </a:p>
          <a:p>
            <a:pPr indent="-317500" lvl="0" marL="457200" rtl="0" algn="l">
              <a:lnSpc>
                <a:spcPct val="100000"/>
              </a:lnSpc>
              <a:spcBef>
                <a:spcPts val="1000"/>
              </a:spcBef>
              <a:spcAft>
                <a:spcPts val="1000"/>
              </a:spcAft>
              <a:buSzPts val="1400"/>
              <a:buChar char="●"/>
            </a:pPr>
            <a:r>
              <a:rPr lang="sk" sz="1400"/>
              <a:t>Solution: architecture update is not needed as horizontal scaling and load balancing are already implemented</a:t>
            </a:r>
            <a:endParaRPr sz="1400"/>
          </a:p>
        </p:txBody>
      </p:sp>
      <p:sp>
        <p:nvSpPr>
          <p:cNvPr id="163" name="Google Shape;163;p16"/>
          <p:cNvSpPr txBox="1"/>
          <p:nvPr/>
        </p:nvSpPr>
        <p:spPr>
          <a:xfrm rot="-5399276">
            <a:off x="-644275" y="2528774"/>
            <a:ext cx="2849700" cy="69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400"/>
              </a:spcAft>
              <a:buNone/>
            </a:pPr>
            <a:r>
              <a:rPr b="1" lang="sk" sz="2500">
                <a:solidFill>
                  <a:schemeClr val="lt2"/>
                </a:solidFill>
              </a:rPr>
              <a:t>PERFORMANCE</a:t>
            </a:r>
            <a:endParaRPr b="1" sz="2500">
              <a:solidFill>
                <a:schemeClr val="lt2"/>
              </a:solidFill>
              <a:latin typeface="Montserrat"/>
              <a:ea typeface="Montserrat"/>
              <a:cs typeface="Montserrat"/>
              <a:sym typeface="Montserrat"/>
            </a:endParaRPr>
          </a:p>
        </p:txBody>
      </p:sp>
      <p:grpSp>
        <p:nvGrpSpPr>
          <p:cNvPr id="164" name="Google Shape;164;p16"/>
          <p:cNvGrpSpPr/>
          <p:nvPr/>
        </p:nvGrpSpPr>
        <p:grpSpPr>
          <a:xfrm>
            <a:off x="5759083" y="464526"/>
            <a:ext cx="3384726" cy="4678883"/>
            <a:chOff x="5607931" y="0"/>
            <a:chExt cx="3536070" cy="4888094"/>
          </a:xfrm>
        </p:grpSpPr>
        <p:pic>
          <p:nvPicPr>
            <p:cNvPr id="165" name="Google Shape;165;p16"/>
            <p:cNvPicPr preferRelativeResize="0"/>
            <p:nvPr/>
          </p:nvPicPr>
          <p:blipFill rotWithShape="1">
            <a:blip r:embed="rId3">
              <a:alphaModFix/>
            </a:blip>
            <a:srcRect b="21327" l="25805" r="0" t="0"/>
            <a:stretch/>
          </p:blipFill>
          <p:spPr>
            <a:xfrm>
              <a:off x="5871775" y="0"/>
              <a:ext cx="3272226" cy="2324650"/>
            </a:xfrm>
            <a:prstGeom prst="rect">
              <a:avLst/>
            </a:prstGeom>
            <a:noFill/>
            <a:ln>
              <a:noFill/>
            </a:ln>
          </p:spPr>
        </p:pic>
        <p:pic>
          <p:nvPicPr>
            <p:cNvPr id="166" name="Google Shape;166;p16"/>
            <p:cNvPicPr preferRelativeResize="0"/>
            <p:nvPr/>
          </p:nvPicPr>
          <p:blipFill>
            <a:blip r:embed="rId4">
              <a:alphaModFix/>
            </a:blip>
            <a:stretch>
              <a:fillRect/>
            </a:stretch>
          </p:blipFill>
          <p:spPr>
            <a:xfrm>
              <a:off x="5607931" y="2243281"/>
              <a:ext cx="1292488" cy="2644813"/>
            </a:xfrm>
            <a:prstGeom prst="rect">
              <a:avLst/>
            </a:prstGeom>
            <a:noFill/>
            <a:ln>
              <a:noFill/>
            </a:ln>
          </p:spPr>
        </p:pic>
      </p:grpSp>
      <p:sp>
        <p:nvSpPr>
          <p:cNvPr id="167" name="Google Shape;167;p16"/>
          <p:cNvSpPr/>
          <p:nvPr/>
        </p:nvSpPr>
        <p:spPr>
          <a:xfrm>
            <a:off x="1126926" y="1037775"/>
            <a:ext cx="768600" cy="578400"/>
          </a:xfrm>
          <a:prstGeom prst="rect">
            <a:avLst/>
          </a:prstGeom>
          <a:solidFill>
            <a:schemeClr val="lt2"/>
          </a:solidFill>
          <a:ln cap="flat" cmpd="sng" w="6725">
            <a:solidFill>
              <a:schemeClr val="dk2"/>
            </a:solidFill>
            <a:prstDash val="solid"/>
            <a:round/>
            <a:headEnd len="sm" w="sm" type="none"/>
            <a:tailEnd len="sm" w="sm" type="none"/>
          </a:ln>
        </p:spPr>
        <p:txBody>
          <a:bodyPr anchorCtr="0" anchor="ctr" bIns="64475" lIns="64475" spcFirstLastPara="1" rIns="64475" wrap="square" tIns="64475">
            <a:noAutofit/>
          </a:bodyPr>
          <a:lstStyle/>
          <a:p>
            <a:pPr indent="0" lvl="0" marL="0" rtl="0" algn="ctr">
              <a:spcBef>
                <a:spcPts val="0"/>
              </a:spcBef>
              <a:spcAft>
                <a:spcPts val="0"/>
              </a:spcAft>
              <a:buNone/>
            </a:pPr>
            <a:r>
              <a:rPr lang="sk" sz="987">
                <a:solidFill>
                  <a:schemeClr val="lt1"/>
                </a:solidFill>
                <a:latin typeface="Lato"/>
                <a:ea typeface="Lato"/>
                <a:cs typeface="Lato"/>
                <a:sym typeface="Lato"/>
              </a:rPr>
              <a:t>Students</a:t>
            </a:r>
            <a:endParaRPr sz="987">
              <a:solidFill>
                <a:schemeClr val="lt1"/>
              </a:solidFill>
              <a:latin typeface="Lato"/>
              <a:ea typeface="Lato"/>
              <a:cs typeface="Lato"/>
              <a:sym typeface="Lato"/>
            </a:endParaRPr>
          </a:p>
        </p:txBody>
      </p:sp>
      <p:sp>
        <p:nvSpPr>
          <p:cNvPr id="168" name="Google Shape;168;p16"/>
          <p:cNvSpPr txBox="1"/>
          <p:nvPr/>
        </p:nvSpPr>
        <p:spPr>
          <a:xfrm>
            <a:off x="1895388" y="1338677"/>
            <a:ext cx="1228800" cy="336300"/>
          </a:xfrm>
          <a:prstGeom prst="rect">
            <a:avLst/>
          </a:prstGeom>
          <a:noFill/>
          <a:ln>
            <a:noFill/>
          </a:ln>
        </p:spPr>
        <p:txBody>
          <a:bodyPr anchorCtr="0" anchor="t" bIns="64475" lIns="64475" spcFirstLastPara="1" rIns="64475" wrap="square" tIns="64475">
            <a:noAutofit/>
          </a:bodyPr>
          <a:lstStyle/>
          <a:p>
            <a:pPr indent="0" lvl="0" marL="0" rtl="0" algn="ctr">
              <a:spcBef>
                <a:spcPts val="705"/>
              </a:spcBef>
              <a:spcAft>
                <a:spcPts val="0"/>
              </a:spcAft>
              <a:buNone/>
            </a:pPr>
            <a:r>
              <a:rPr lang="sk" sz="900">
                <a:solidFill>
                  <a:schemeClr val="lt1"/>
                </a:solidFill>
                <a:latin typeface="Lato"/>
                <a:ea typeface="Lato"/>
                <a:cs typeface="Lato"/>
                <a:sym typeface="Lato"/>
              </a:rPr>
              <a:t>thousands of requests to open schedule page at a 1s time frame</a:t>
            </a:r>
            <a:endParaRPr sz="900">
              <a:solidFill>
                <a:schemeClr val="lt1"/>
              </a:solidFill>
              <a:latin typeface="Lato"/>
              <a:ea typeface="Lato"/>
              <a:cs typeface="Lato"/>
              <a:sym typeface="Lato"/>
            </a:endParaRPr>
          </a:p>
        </p:txBody>
      </p:sp>
      <p:sp>
        <p:nvSpPr>
          <p:cNvPr id="169" name="Google Shape;169;p16"/>
          <p:cNvSpPr/>
          <p:nvPr/>
        </p:nvSpPr>
        <p:spPr>
          <a:xfrm>
            <a:off x="3124306" y="1037775"/>
            <a:ext cx="768600" cy="578400"/>
          </a:xfrm>
          <a:prstGeom prst="rect">
            <a:avLst/>
          </a:prstGeom>
          <a:solidFill>
            <a:schemeClr val="lt2"/>
          </a:solidFill>
          <a:ln cap="flat" cmpd="sng" w="6725">
            <a:solidFill>
              <a:schemeClr val="dk2"/>
            </a:solidFill>
            <a:prstDash val="solid"/>
            <a:round/>
            <a:headEnd len="sm" w="sm" type="none"/>
            <a:tailEnd len="sm" w="sm" type="none"/>
          </a:ln>
        </p:spPr>
        <p:txBody>
          <a:bodyPr anchorCtr="0" anchor="ctr" bIns="64475" lIns="64475" spcFirstLastPara="1" rIns="64475" wrap="square" tIns="64475">
            <a:noAutofit/>
          </a:bodyPr>
          <a:lstStyle/>
          <a:p>
            <a:pPr indent="0" lvl="0" marL="0" rtl="0" algn="ctr">
              <a:spcBef>
                <a:spcPts val="0"/>
              </a:spcBef>
              <a:spcAft>
                <a:spcPts val="0"/>
              </a:spcAft>
              <a:buNone/>
            </a:pPr>
            <a:r>
              <a:rPr lang="sk" sz="987">
                <a:solidFill>
                  <a:schemeClr val="lt1"/>
                </a:solidFill>
                <a:latin typeface="Lato"/>
                <a:ea typeface="Lato"/>
                <a:cs typeface="Lato"/>
                <a:sym typeface="Lato"/>
              </a:rPr>
              <a:t>Schedule Viewing Web App</a:t>
            </a:r>
            <a:endParaRPr sz="987">
              <a:solidFill>
                <a:schemeClr val="lt1"/>
              </a:solidFill>
              <a:latin typeface="Lato"/>
              <a:ea typeface="Lato"/>
              <a:cs typeface="Lato"/>
              <a:sym typeface="Lato"/>
            </a:endParaRPr>
          </a:p>
        </p:txBody>
      </p:sp>
      <p:sp>
        <p:nvSpPr>
          <p:cNvPr id="170" name="Google Shape;170;p16"/>
          <p:cNvSpPr txBox="1"/>
          <p:nvPr/>
        </p:nvSpPr>
        <p:spPr>
          <a:xfrm>
            <a:off x="2894042" y="1743866"/>
            <a:ext cx="1228800" cy="336300"/>
          </a:xfrm>
          <a:prstGeom prst="rect">
            <a:avLst/>
          </a:prstGeom>
          <a:noFill/>
          <a:ln>
            <a:noFill/>
          </a:ln>
        </p:spPr>
        <p:txBody>
          <a:bodyPr anchorCtr="0" anchor="t" bIns="64475" lIns="64475" spcFirstLastPara="1" rIns="64475" wrap="square" tIns="64475">
            <a:normAutofit/>
          </a:bodyPr>
          <a:lstStyle/>
          <a:p>
            <a:pPr indent="0" lvl="0" marL="0" rtl="0" algn="ctr">
              <a:spcBef>
                <a:spcPts val="0"/>
              </a:spcBef>
              <a:spcAft>
                <a:spcPts val="0"/>
              </a:spcAft>
              <a:buNone/>
            </a:pPr>
            <a:r>
              <a:rPr lang="sk" sz="917">
                <a:solidFill>
                  <a:schemeClr val="lt1"/>
                </a:solidFill>
                <a:latin typeface="Lato"/>
                <a:ea typeface="Lato"/>
                <a:cs typeface="Lato"/>
                <a:sym typeface="Lato"/>
              </a:rPr>
              <a:t>Normal operation</a:t>
            </a:r>
            <a:endParaRPr sz="917">
              <a:solidFill>
                <a:schemeClr val="lt1"/>
              </a:solidFill>
              <a:latin typeface="Lato"/>
              <a:ea typeface="Lato"/>
              <a:cs typeface="Lato"/>
              <a:sym typeface="Lato"/>
            </a:endParaRPr>
          </a:p>
        </p:txBody>
      </p:sp>
      <p:sp>
        <p:nvSpPr>
          <p:cNvPr id="171" name="Google Shape;171;p16"/>
          <p:cNvSpPr/>
          <p:nvPr/>
        </p:nvSpPr>
        <p:spPr>
          <a:xfrm>
            <a:off x="3864214" y="1268253"/>
            <a:ext cx="1228800" cy="117600"/>
          </a:xfrm>
          <a:prstGeom prst="rightArrow">
            <a:avLst>
              <a:gd fmla="val 28" name="adj1"/>
              <a:gd fmla="val 62117" name="adj2"/>
            </a:avLst>
          </a:prstGeom>
          <a:solidFill>
            <a:schemeClr val="lt2"/>
          </a:solidFill>
          <a:ln cap="flat" cmpd="sng" w="6725">
            <a:solidFill>
              <a:schemeClr val="dk2"/>
            </a:solidFill>
            <a:prstDash val="solid"/>
            <a:round/>
            <a:headEnd len="sm" w="sm" type="none"/>
            <a:tailEnd len="sm" w="sm" type="none"/>
          </a:ln>
        </p:spPr>
        <p:txBody>
          <a:bodyPr anchorCtr="0" anchor="ctr" bIns="64475" lIns="64475" spcFirstLastPara="1" rIns="64475" wrap="square" tIns="64475">
            <a:noAutofit/>
          </a:bodyPr>
          <a:lstStyle/>
          <a:p>
            <a:pPr indent="0" lvl="0" marL="0" rtl="0" algn="l">
              <a:spcBef>
                <a:spcPts val="0"/>
              </a:spcBef>
              <a:spcAft>
                <a:spcPts val="0"/>
              </a:spcAft>
              <a:buNone/>
            </a:pPr>
            <a:r>
              <a:t/>
            </a:r>
            <a:endParaRPr sz="987">
              <a:solidFill>
                <a:schemeClr val="lt1"/>
              </a:solidFill>
              <a:latin typeface="Lato"/>
              <a:ea typeface="Lato"/>
              <a:cs typeface="Lato"/>
              <a:sym typeface="Lato"/>
            </a:endParaRPr>
          </a:p>
        </p:txBody>
      </p:sp>
      <p:sp>
        <p:nvSpPr>
          <p:cNvPr id="172" name="Google Shape;172;p16"/>
          <p:cNvSpPr txBox="1"/>
          <p:nvPr/>
        </p:nvSpPr>
        <p:spPr>
          <a:xfrm>
            <a:off x="3864214" y="1338677"/>
            <a:ext cx="1228800" cy="336300"/>
          </a:xfrm>
          <a:prstGeom prst="rect">
            <a:avLst/>
          </a:prstGeom>
          <a:noFill/>
          <a:ln>
            <a:noFill/>
          </a:ln>
        </p:spPr>
        <p:txBody>
          <a:bodyPr anchorCtr="0" anchor="t" bIns="64475" lIns="64475" spcFirstLastPara="1" rIns="64475" wrap="square" tIns="64475">
            <a:normAutofit/>
          </a:bodyPr>
          <a:lstStyle/>
          <a:p>
            <a:pPr indent="0" lvl="0" marL="0" rtl="0" algn="ctr">
              <a:spcBef>
                <a:spcPts val="0"/>
              </a:spcBef>
              <a:spcAft>
                <a:spcPts val="0"/>
              </a:spcAft>
              <a:buNone/>
            </a:pPr>
            <a:r>
              <a:rPr lang="sk" sz="917">
                <a:solidFill>
                  <a:schemeClr val="lt1"/>
                </a:solidFill>
                <a:latin typeface="Lato"/>
                <a:ea typeface="Lato"/>
                <a:cs typeface="Lato"/>
                <a:sym typeface="Lato"/>
              </a:rPr>
              <a:t>Reads requests sent</a:t>
            </a:r>
            <a:endParaRPr sz="917">
              <a:solidFill>
                <a:schemeClr val="lt1"/>
              </a:solidFill>
              <a:latin typeface="Lato"/>
              <a:ea typeface="Lato"/>
              <a:cs typeface="Lato"/>
              <a:sym typeface="Lato"/>
            </a:endParaRPr>
          </a:p>
        </p:txBody>
      </p:sp>
      <p:sp>
        <p:nvSpPr>
          <p:cNvPr id="173" name="Google Shape;173;p16"/>
          <p:cNvSpPr/>
          <p:nvPr/>
        </p:nvSpPr>
        <p:spPr>
          <a:xfrm>
            <a:off x="5093202" y="1037775"/>
            <a:ext cx="1120200" cy="578400"/>
          </a:xfrm>
          <a:prstGeom prst="rect">
            <a:avLst/>
          </a:prstGeom>
          <a:solidFill>
            <a:schemeClr val="lt2"/>
          </a:solidFill>
          <a:ln cap="flat" cmpd="sng" w="6725">
            <a:solidFill>
              <a:schemeClr val="dk2"/>
            </a:solidFill>
            <a:prstDash val="solid"/>
            <a:round/>
            <a:headEnd len="sm" w="sm" type="none"/>
            <a:tailEnd len="sm" w="sm" type="none"/>
          </a:ln>
        </p:spPr>
        <p:txBody>
          <a:bodyPr anchorCtr="0" anchor="ctr" bIns="64475" lIns="64475" spcFirstLastPara="1" rIns="64475" wrap="square" tIns="64475">
            <a:noAutofit/>
          </a:bodyPr>
          <a:lstStyle/>
          <a:p>
            <a:pPr indent="0" lvl="0" marL="0" rtl="0" algn="ctr">
              <a:spcBef>
                <a:spcPts val="0"/>
              </a:spcBef>
              <a:spcAft>
                <a:spcPts val="0"/>
              </a:spcAft>
              <a:buNone/>
            </a:pPr>
            <a:r>
              <a:rPr lang="sk" sz="987">
                <a:solidFill>
                  <a:schemeClr val="lt1"/>
                </a:solidFill>
                <a:latin typeface="Lato"/>
                <a:ea typeface="Lato"/>
                <a:cs typeface="Lato"/>
                <a:sym typeface="Lato"/>
              </a:rPr>
              <a:t>Latency up to 3s</a:t>
            </a:r>
            <a:endParaRPr sz="987">
              <a:solidFill>
                <a:schemeClr val="lt1"/>
              </a:solidFill>
              <a:latin typeface="Lato"/>
              <a:ea typeface="Lato"/>
              <a:cs typeface="Lato"/>
              <a:sym typeface="Lato"/>
            </a:endParaRPr>
          </a:p>
        </p:txBody>
      </p:sp>
      <p:sp>
        <p:nvSpPr>
          <p:cNvPr id="174" name="Google Shape;174;p16"/>
          <p:cNvSpPr/>
          <p:nvPr/>
        </p:nvSpPr>
        <p:spPr>
          <a:xfrm>
            <a:off x="1895391" y="1268209"/>
            <a:ext cx="1228800" cy="117600"/>
          </a:xfrm>
          <a:prstGeom prst="rightArrow">
            <a:avLst>
              <a:gd fmla="val 28" name="adj1"/>
              <a:gd fmla="val 62117" name="adj2"/>
            </a:avLst>
          </a:prstGeom>
          <a:solidFill>
            <a:schemeClr val="lt2"/>
          </a:solidFill>
          <a:ln cap="flat" cmpd="sng" w="6725">
            <a:solidFill>
              <a:schemeClr val="dk2"/>
            </a:solidFill>
            <a:prstDash val="solid"/>
            <a:round/>
            <a:headEnd len="sm" w="sm" type="none"/>
            <a:tailEnd len="sm" w="sm" type="none"/>
          </a:ln>
        </p:spPr>
        <p:txBody>
          <a:bodyPr anchorCtr="0" anchor="ctr" bIns="64475" lIns="64475" spcFirstLastPara="1" rIns="64475" wrap="square" tIns="64475">
            <a:noAutofit/>
          </a:bodyPr>
          <a:lstStyle/>
          <a:p>
            <a:pPr indent="0" lvl="0" marL="0" rtl="0" algn="l">
              <a:spcBef>
                <a:spcPts val="0"/>
              </a:spcBef>
              <a:spcAft>
                <a:spcPts val="0"/>
              </a:spcAft>
              <a:buNone/>
            </a:pPr>
            <a:r>
              <a:t/>
            </a:r>
            <a:endParaRPr sz="987">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b="1" lang="sk" sz="2800">
                <a:solidFill>
                  <a:schemeClr val="lt2"/>
                </a:solidFill>
              </a:rPr>
              <a:t>Notification Service Availability</a:t>
            </a:r>
            <a:endParaRPr sz="2800">
              <a:solidFill>
                <a:schemeClr val="lt2"/>
              </a:solidFill>
              <a:latin typeface="Montserrat Black"/>
              <a:ea typeface="Montserrat Black"/>
              <a:cs typeface="Montserrat Black"/>
              <a:sym typeface="Montserrat Black"/>
            </a:endParaRPr>
          </a:p>
        </p:txBody>
      </p:sp>
      <p:sp>
        <p:nvSpPr>
          <p:cNvPr id="180" name="Google Shape;180;p17"/>
          <p:cNvSpPr txBox="1"/>
          <p:nvPr>
            <p:ph idx="1" type="body"/>
          </p:nvPr>
        </p:nvSpPr>
        <p:spPr>
          <a:xfrm>
            <a:off x="936800" y="2535675"/>
            <a:ext cx="5591700" cy="29112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sk" sz="1500"/>
              <a:t>System now runs multiple duplicates of Notification Service under a load balancer</a:t>
            </a:r>
            <a:endParaRPr sz="1500"/>
          </a:p>
          <a:p>
            <a:pPr indent="-323850" lvl="0" marL="457200" rtl="0" algn="l">
              <a:spcBef>
                <a:spcPts val="0"/>
              </a:spcBef>
              <a:spcAft>
                <a:spcPts val="0"/>
              </a:spcAft>
              <a:buSzPts val="1500"/>
              <a:buChar char="-"/>
            </a:pPr>
            <a:r>
              <a:rPr lang="sk" sz="1500"/>
              <a:t>When some Notification Service clone returns error while sending notification, we log it and dispatch to a working instance</a:t>
            </a:r>
            <a:endParaRPr sz="1500"/>
          </a:p>
          <a:p>
            <a:pPr indent="-323850" lvl="0" marL="457200" rtl="0" algn="l">
              <a:spcBef>
                <a:spcPts val="0"/>
              </a:spcBef>
              <a:spcAft>
                <a:spcPts val="0"/>
              </a:spcAft>
              <a:buSzPts val="1500"/>
              <a:buChar char="-"/>
            </a:pPr>
            <a:r>
              <a:rPr lang="sk" sz="1500"/>
              <a:t>No synchronization needed, as instances of Notification Service operate independently without shared state</a:t>
            </a:r>
            <a:endParaRPr sz="1500"/>
          </a:p>
        </p:txBody>
      </p:sp>
      <p:sp>
        <p:nvSpPr>
          <p:cNvPr id="181" name="Google Shape;181;p17"/>
          <p:cNvSpPr txBox="1"/>
          <p:nvPr/>
        </p:nvSpPr>
        <p:spPr>
          <a:xfrm rot="-5399233">
            <a:off x="-563277" y="2609787"/>
            <a:ext cx="2687700" cy="69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400"/>
              </a:spcAft>
              <a:buNone/>
            </a:pPr>
            <a:r>
              <a:rPr b="1" lang="sk" sz="2500">
                <a:solidFill>
                  <a:schemeClr val="lt2"/>
                </a:solidFill>
              </a:rPr>
              <a:t>AVAILABILITY</a:t>
            </a:r>
            <a:endParaRPr b="1" sz="2500">
              <a:solidFill>
                <a:schemeClr val="lt2"/>
              </a:solidFill>
              <a:latin typeface="Montserrat"/>
              <a:ea typeface="Montserrat"/>
              <a:cs typeface="Montserrat"/>
              <a:sym typeface="Montserrat"/>
            </a:endParaRPr>
          </a:p>
        </p:txBody>
      </p:sp>
      <p:sp>
        <p:nvSpPr>
          <p:cNvPr id="182" name="Google Shape;182;p17"/>
          <p:cNvSpPr/>
          <p:nvPr/>
        </p:nvSpPr>
        <p:spPr>
          <a:xfrm>
            <a:off x="1182250" y="994238"/>
            <a:ext cx="1089300" cy="81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k">
                <a:solidFill>
                  <a:schemeClr val="lt1"/>
                </a:solidFill>
                <a:latin typeface="Lato"/>
                <a:ea typeface="Lato"/>
                <a:cs typeface="Lato"/>
                <a:sym typeface="Lato"/>
              </a:rPr>
              <a:t>Scheduling Service</a:t>
            </a:r>
            <a:endParaRPr>
              <a:solidFill>
                <a:schemeClr val="lt1"/>
              </a:solidFill>
              <a:latin typeface="Lato"/>
              <a:ea typeface="Lato"/>
              <a:cs typeface="Lato"/>
              <a:sym typeface="Lato"/>
            </a:endParaRPr>
          </a:p>
        </p:txBody>
      </p:sp>
      <p:sp>
        <p:nvSpPr>
          <p:cNvPr id="183" name="Google Shape;183;p17"/>
          <p:cNvSpPr/>
          <p:nvPr/>
        </p:nvSpPr>
        <p:spPr>
          <a:xfrm>
            <a:off x="2271550" y="1320938"/>
            <a:ext cx="1742100" cy="166500"/>
          </a:xfrm>
          <a:prstGeom prst="rightArrow">
            <a:avLst>
              <a:gd fmla="val 28" name="adj1"/>
              <a:gd fmla="val 6211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Lato"/>
              <a:ea typeface="Lato"/>
              <a:cs typeface="Lato"/>
              <a:sym typeface="Lato"/>
            </a:endParaRPr>
          </a:p>
        </p:txBody>
      </p:sp>
      <p:sp>
        <p:nvSpPr>
          <p:cNvPr id="184" name="Google Shape;184;p17"/>
          <p:cNvSpPr txBox="1"/>
          <p:nvPr/>
        </p:nvSpPr>
        <p:spPr>
          <a:xfrm>
            <a:off x="2271550" y="1420763"/>
            <a:ext cx="1742100" cy="47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sk" sz="1300">
                <a:solidFill>
                  <a:schemeClr val="lt1"/>
                </a:solidFill>
                <a:latin typeface="Lato"/>
                <a:ea typeface="Lato"/>
                <a:cs typeface="Lato"/>
                <a:sym typeface="Lato"/>
              </a:rPr>
              <a:t>Unable to use for notification</a:t>
            </a:r>
            <a:endParaRPr sz="1300">
              <a:solidFill>
                <a:schemeClr val="lt1"/>
              </a:solidFill>
              <a:latin typeface="Lato"/>
              <a:ea typeface="Lato"/>
              <a:cs typeface="Lato"/>
              <a:sym typeface="Lato"/>
            </a:endParaRPr>
          </a:p>
        </p:txBody>
      </p:sp>
      <p:sp>
        <p:nvSpPr>
          <p:cNvPr id="185" name="Google Shape;185;p17"/>
          <p:cNvSpPr/>
          <p:nvPr/>
        </p:nvSpPr>
        <p:spPr>
          <a:xfrm>
            <a:off x="4013550" y="994250"/>
            <a:ext cx="1166100" cy="81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k">
                <a:solidFill>
                  <a:schemeClr val="lt1"/>
                </a:solidFill>
                <a:latin typeface="Lato"/>
                <a:ea typeface="Lato"/>
                <a:cs typeface="Lato"/>
                <a:sym typeface="Lato"/>
              </a:rPr>
              <a:t>Notification Service</a:t>
            </a:r>
            <a:endParaRPr>
              <a:solidFill>
                <a:schemeClr val="lt1"/>
              </a:solidFill>
              <a:latin typeface="Lato"/>
              <a:ea typeface="Lato"/>
              <a:cs typeface="Lato"/>
              <a:sym typeface="Lato"/>
            </a:endParaRPr>
          </a:p>
        </p:txBody>
      </p:sp>
      <p:sp>
        <p:nvSpPr>
          <p:cNvPr id="186" name="Google Shape;186;p17"/>
          <p:cNvSpPr/>
          <p:nvPr/>
        </p:nvSpPr>
        <p:spPr>
          <a:xfrm>
            <a:off x="5179550" y="1320938"/>
            <a:ext cx="1742100" cy="166500"/>
          </a:xfrm>
          <a:prstGeom prst="rightArrow">
            <a:avLst>
              <a:gd fmla="val 28" name="adj1"/>
              <a:gd fmla="val 6211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Lato"/>
              <a:ea typeface="Lato"/>
              <a:cs typeface="Lato"/>
              <a:sym typeface="Lato"/>
            </a:endParaRPr>
          </a:p>
        </p:txBody>
      </p:sp>
      <p:sp>
        <p:nvSpPr>
          <p:cNvPr id="187" name="Google Shape;187;p17"/>
          <p:cNvSpPr txBox="1"/>
          <p:nvPr/>
        </p:nvSpPr>
        <p:spPr>
          <a:xfrm>
            <a:off x="5179550" y="1420763"/>
            <a:ext cx="1742100" cy="4764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sk" sz="1300">
                <a:solidFill>
                  <a:schemeClr val="lt1"/>
                </a:solidFill>
                <a:latin typeface="Lato"/>
                <a:ea typeface="Lato"/>
                <a:cs typeface="Lato"/>
                <a:sym typeface="Lato"/>
              </a:rPr>
              <a:t>Recover, log</a:t>
            </a:r>
            <a:endParaRPr sz="1300">
              <a:solidFill>
                <a:schemeClr val="lt1"/>
              </a:solidFill>
              <a:latin typeface="Lato"/>
              <a:ea typeface="Lato"/>
              <a:cs typeface="Lato"/>
              <a:sym typeface="Lato"/>
            </a:endParaRPr>
          </a:p>
        </p:txBody>
      </p:sp>
      <p:sp>
        <p:nvSpPr>
          <p:cNvPr id="188" name="Google Shape;188;p17"/>
          <p:cNvSpPr/>
          <p:nvPr/>
        </p:nvSpPr>
        <p:spPr>
          <a:xfrm>
            <a:off x="6921650" y="994238"/>
            <a:ext cx="1587900" cy="81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k">
                <a:solidFill>
                  <a:schemeClr val="lt1"/>
                </a:solidFill>
                <a:latin typeface="Lato"/>
                <a:ea typeface="Lato"/>
                <a:cs typeface="Lato"/>
                <a:sym typeface="Lato"/>
              </a:rPr>
              <a:t>No downtime</a:t>
            </a:r>
            <a:endParaRPr>
              <a:solidFill>
                <a:schemeClr val="lt1"/>
              </a:solidFill>
              <a:latin typeface="Lato"/>
              <a:ea typeface="Lato"/>
              <a:cs typeface="Lato"/>
              <a:sym typeface="Lato"/>
            </a:endParaRPr>
          </a:p>
        </p:txBody>
      </p:sp>
      <p:sp>
        <p:nvSpPr>
          <p:cNvPr id="189" name="Google Shape;189;p17"/>
          <p:cNvSpPr txBox="1"/>
          <p:nvPr/>
        </p:nvSpPr>
        <p:spPr>
          <a:xfrm>
            <a:off x="3725550" y="1872388"/>
            <a:ext cx="1742100" cy="4764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sk" sz="1300">
                <a:solidFill>
                  <a:schemeClr val="lt1"/>
                </a:solidFill>
                <a:latin typeface="Lato"/>
                <a:ea typeface="Lato"/>
                <a:cs typeface="Lato"/>
                <a:sym typeface="Lato"/>
              </a:rPr>
              <a:t>Normal operation</a:t>
            </a:r>
            <a:endParaRPr sz="1300">
              <a:solidFill>
                <a:schemeClr val="lt1"/>
              </a:solidFill>
              <a:latin typeface="Lato"/>
              <a:ea typeface="Lato"/>
              <a:cs typeface="Lato"/>
              <a:sym typeface="Lato"/>
            </a:endParaRPr>
          </a:p>
        </p:txBody>
      </p:sp>
      <p:pic>
        <p:nvPicPr>
          <p:cNvPr id="190" name="Google Shape;190;p17"/>
          <p:cNvPicPr preferRelativeResize="0"/>
          <p:nvPr/>
        </p:nvPicPr>
        <p:blipFill>
          <a:blip r:embed="rId3">
            <a:alphaModFix/>
          </a:blip>
          <a:stretch>
            <a:fillRect/>
          </a:stretch>
        </p:blipFill>
        <p:spPr>
          <a:xfrm>
            <a:off x="6876000" y="1643325"/>
            <a:ext cx="2152575" cy="3500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b="1" lang="sk" sz="2800">
                <a:solidFill>
                  <a:schemeClr val="lt2"/>
                </a:solidFill>
              </a:rPr>
              <a:t>Add new statistics category</a:t>
            </a:r>
            <a:endParaRPr sz="2800">
              <a:solidFill>
                <a:schemeClr val="lt2"/>
              </a:solidFill>
              <a:latin typeface="Montserrat Black"/>
              <a:ea typeface="Montserrat Black"/>
              <a:cs typeface="Montserrat Black"/>
              <a:sym typeface="Montserrat Black"/>
            </a:endParaRPr>
          </a:p>
        </p:txBody>
      </p:sp>
      <p:sp>
        <p:nvSpPr>
          <p:cNvPr id="196" name="Google Shape;196;p18"/>
          <p:cNvSpPr txBox="1"/>
          <p:nvPr>
            <p:ph idx="1" type="body"/>
          </p:nvPr>
        </p:nvSpPr>
        <p:spPr>
          <a:xfrm>
            <a:off x="1297496" y="2571750"/>
            <a:ext cx="4591200" cy="1263900"/>
          </a:xfrm>
          <a:prstGeom prst="rect">
            <a:avLst/>
          </a:prstGeom>
        </p:spPr>
        <p:txBody>
          <a:bodyPr anchorCtr="0" anchor="t" bIns="91425" lIns="91425" spcFirstLastPara="1" rIns="91425" wrap="square" tIns="91425">
            <a:noAutofit/>
          </a:bodyPr>
          <a:lstStyle/>
          <a:p>
            <a:pPr indent="-323850" lvl="0" marL="457200" marR="0" rtl="0" algn="l">
              <a:lnSpc>
                <a:spcPct val="115000"/>
              </a:lnSpc>
              <a:spcBef>
                <a:spcPts val="0"/>
              </a:spcBef>
              <a:spcAft>
                <a:spcPts val="0"/>
              </a:spcAft>
              <a:buSzPts val="1500"/>
              <a:buChar char="●"/>
            </a:pPr>
            <a:r>
              <a:rPr lang="sk" sz="1500"/>
              <a:t>Solution: Architecture is able to handle this, everything goes through the statistics service, which requests the data needed from the course service</a:t>
            </a:r>
            <a:endParaRPr sz="1500"/>
          </a:p>
        </p:txBody>
      </p:sp>
      <p:sp>
        <p:nvSpPr>
          <p:cNvPr id="197" name="Google Shape;197;p18"/>
          <p:cNvSpPr txBox="1"/>
          <p:nvPr/>
        </p:nvSpPr>
        <p:spPr>
          <a:xfrm rot="-5399233">
            <a:off x="-563277" y="2609787"/>
            <a:ext cx="2687700" cy="69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400"/>
              </a:spcAft>
              <a:buNone/>
            </a:pPr>
            <a:r>
              <a:rPr b="1" lang="sk" sz="2500">
                <a:solidFill>
                  <a:schemeClr val="lt2"/>
                </a:solidFill>
              </a:rPr>
              <a:t>SCALABILITY</a:t>
            </a:r>
            <a:endParaRPr b="1" sz="2500">
              <a:solidFill>
                <a:schemeClr val="lt2"/>
              </a:solidFill>
              <a:latin typeface="Montserrat"/>
              <a:ea typeface="Montserrat"/>
              <a:cs typeface="Montserrat"/>
              <a:sym typeface="Montserrat"/>
            </a:endParaRPr>
          </a:p>
        </p:txBody>
      </p:sp>
      <p:sp>
        <p:nvSpPr>
          <p:cNvPr id="198" name="Google Shape;198;p18"/>
          <p:cNvSpPr/>
          <p:nvPr/>
        </p:nvSpPr>
        <p:spPr>
          <a:xfrm>
            <a:off x="1297500" y="1094463"/>
            <a:ext cx="1089300" cy="81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k">
                <a:solidFill>
                  <a:schemeClr val="lt1"/>
                </a:solidFill>
                <a:latin typeface="Lato"/>
                <a:ea typeface="Lato"/>
                <a:cs typeface="Lato"/>
                <a:sym typeface="Lato"/>
              </a:rPr>
              <a:t>System developer</a:t>
            </a:r>
            <a:endParaRPr>
              <a:solidFill>
                <a:schemeClr val="lt1"/>
              </a:solidFill>
              <a:latin typeface="Lato"/>
              <a:ea typeface="Lato"/>
              <a:cs typeface="Lato"/>
              <a:sym typeface="Lato"/>
            </a:endParaRPr>
          </a:p>
        </p:txBody>
      </p:sp>
      <p:sp>
        <p:nvSpPr>
          <p:cNvPr id="199" name="Google Shape;199;p18"/>
          <p:cNvSpPr/>
          <p:nvPr/>
        </p:nvSpPr>
        <p:spPr>
          <a:xfrm>
            <a:off x="2386800" y="1421163"/>
            <a:ext cx="1742100" cy="166500"/>
          </a:xfrm>
          <a:prstGeom prst="rightArrow">
            <a:avLst>
              <a:gd fmla="val 28" name="adj1"/>
              <a:gd fmla="val 6211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Lato"/>
              <a:ea typeface="Lato"/>
              <a:cs typeface="Lato"/>
              <a:sym typeface="Lato"/>
            </a:endParaRPr>
          </a:p>
        </p:txBody>
      </p:sp>
      <p:sp>
        <p:nvSpPr>
          <p:cNvPr id="200" name="Google Shape;200;p18"/>
          <p:cNvSpPr txBox="1"/>
          <p:nvPr/>
        </p:nvSpPr>
        <p:spPr>
          <a:xfrm>
            <a:off x="2386800" y="1520988"/>
            <a:ext cx="1742100" cy="47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sk" sz="1300">
                <a:solidFill>
                  <a:schemeClr val="lt1"/>
                </a:solidFill>
                <a:latin typeface="Lato"/>
                <a:ea typeface="Lato"/>
                <a:cs typeface="Lato"/>
                <a:sym typeface="Lato"/>
              </a:rPr>
              <a:t>Add a new statistics category</a:t>
            </a:r>
            <a:endParaRPr sz="1300">
              <a:solidFill>
                <a:schemeClr val="lt1"/>
              </a:solidFill>
              <a:latin typeface="Lato"/>
              <a:ea typeface="Lato"/>
              <a:cs typeface="Lato"/>
              <a:sym typeface="Lato"/>
            </a:endParaRPr>
          </a:p>
        </p:txBody>
      </p:sp>
      <p:sp>
        <p:nvSpPr>
          <p:cNvPr id="201" name="Google Shape;201;p18"/>
          <p:cNvSpPr/>
          <p:nvPr/>
        </p:nvSpPr>
        <p:spPr>
          <a:xfrm>
            <a:off x="4128800" y="1094463"/>
            <a:ext cx="1089300" cy="81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k">
                <a:solidFill>
                  <a:schemeClr val="lt1"/>
                </a:solidFill>
                <a:latin typeface="Lato"/>
                <a:ea typeface="Lato"/>
                <a:cs typeface="Lato"/>
                <a:sym typeface="Lato"/>
              </a:rPr>
              <a:t>Statistics service</a:t>
            </a:r>
            <a:endParaRPr>
              <a:solidFill>
                <a:schemeClr val="lt1"/>
              </a:solidFill>
              <a:latin typeface="Lato"/>
              <a:ea typeface="Lato"/>
              <a:cs typeface="Lato"/>
              <a:sym typeface="Lato"/>
            </a:endParaRPr>
          </a:p>
        </p:txBody>
      </p:sp>
      <p:sp>
        <p:nvSpPr>
          <p:cNvPr id="202" name="Google Shape;202;p18"/>
          <p:cNvSpPr txBox="1"/>
          <p:nvPr/>
        </p:nvSpPr>
        <p:spPr>
          <a:xfrm>
            <a:off x="3802400" y="1993725"/>
            <a:ext cx="1742100" cy="359700"/>
          </a:xfrm>
          <a:prstGeom prst="rect">
            <a:avLst/>
          </a:prstGeom>
          <a:noFill/>
          <a:ln>
            <a:noFill/>
          </a:ln>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sk" sz="1300">
                <a:solidFill>
                  <a:schemeClr val="lt1"/>
                </a:solidFill>
                <a:latin typeface="Lato"/>
                <a:ea typeface="Lato"/>
                <a:cs typeface="Lato"/>
                <a:sym typeface="Lato"/>
              </a:rPr>
              <a:t>Normal operation</a:t>
            </a:r>
            <a:endParaRPr sz="1300">
              <a:solidFill>
                <a:schemeClr val="lt1"/>
              </a:solidFill>
              <a:latin typeface="Lato"/>
              <a:ea typeface="Lato"/>
              <a:cs typeface="Lato"/>
              <a:sym typeface="Lato"/>
            </a:endParaRPr>
          </a:p>
        </p:txBody>
      </p:sp>
      <p:sp>
        <p:nvSpPr>
          <p:cNvPr id="203" name="Google Shape;203;p18"/>
          <p:cNvSpPr/>
          <p:nvPr/>
        </p:nvSpPr>
        <p:spPr>
          <a:xfrm>
            <a:off x="5177625" y="1421163"/>
            <a:ext cx="1742100" cy="166500"/>
          </a:xfrm>
          <a:prstGeom prst="rightArrow">
            <a:avLst>
              <a:gd fmla="val 28" name="adj1"/>
              <a:gd fmla="val 6211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Lato"/>
              <a:ea typeface="Lato"/>
              <a:cs typeface="Lato"/>
              <a:sym typeface="Lato"/>
            </a:endParaRPr>
          </a:p>
        </p:txBody>
      </p:sp>
      <p:sp>
        <p:nvSpPr>
          <p:cNvPr id="204" name="Google Shape;204;p18"/>
          <p:cNvSpPr txBox="1"/>
          <p:nvPr/>
        </p:nvSpPr>
        <p:spPr>
          <a:xfrm>
            <a:off x="5177625" y="1520988"/>
            <a:ext cx="1742100" cy="476400"/>
          </a:xfrm>
          <a:prstGeom prst="rect">
            <a:avLst/>
          </a:prstGeom>
          <a:noFill/>
          <a:ln>
            <a:noFill/>
          </a:ln>
        </p:spPr>
        <p:txBody>
          <a:bodyPr anchorCtr="0" anchor="t" bIns="91425" lIns="91425" spcFirstLastPara="1" rIns="91425" wrap="square" tIns="91425">
            <a:normAutofit fontScale="70000"/>
          </a:bodyPr>
          <a:lstStyle/>
          <a:p>
            <a:pPr indent="0" lvl="0" marL="0" rtl="0" algn="ctr">
              <a:spcBef>
                <a:spcPts val="0"/>
              </a:spcBef>
              <a:spcAft>
                <a:spcPts val="0"/>
              </a:spcAft>
              <a:buNone/>
            </a:pPr>
            <a:r>
              <a:rPr lang="sk" sz="1300">
                <a:solidFill>
                  <a:schemeClr val="lt1"/>
                </a:solidFill>
                <a:latin typeface="Lato"/>
                <a:ea typeface="Lato"/>
                <a:cs typeface="Lato"/>
                <a:sym typeface="Lato"/>
              </a:rPr>
              <a:t>New statistics category is added to the statistics service</a:t>
            </a:r>
            <a:endParaRPr sz="1300">
              <a:solidFill>
                <a:schemeClr val="lt1"/>
              </a:solidFill>
              <a:latin typeface="Lato"/>
              <a:ea typeface="Lato"/>
              <a:cs typeface="Lato"/>
              <a:sym typeface="Lato"/>
            </a:endParaRPr>
          </a:p>
        </p:txBody>
      </p:sp>
      <p:sp>
        <p:nvSpPr>
          <p:cNvPr id="205" name="Google Shape;205;p18"/>
          <p:cNvSpPr/>
          <p:nvPr/>
        </p:nvSpPr>
        <p:spPr>
          <a:xfrm>
            <a:off x="6919725" y="1094463"/>
            <a:ext cx="1587900" cy="81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k">
                <a:solidFill>
                  <a:schemeClr val="lt1"/>
                </a:solidFill>
                <a:latin typeface="Lato"/>
                <a:ea typeface="Lato"/>
                <a:cs typeface="Lato"/>
                <a:sym typeface="Lato"/>
              </a:rPr>
              <a:t>The database is updated without a hitch</a:t>
            </a:r>
            <a:endParaRPr>
              <a:solidFill>
                <a:schemeClr val="lt1"/>
              </a:solidFill>
              <a:latin typeface="Lato"/>
              <a:ea typeface="Lato"/>
              <a:cs typeface="Lato"/>
              <a:sym typeface="Lato"/>
            </a:endParaRPr>
          </a:p>
        </p:txBody>
      </p:sp>
      <p:pic>
        <p:nvPicPr>
          <p:cNvPr id="206" name="Google Shape;206;p18"/>
          <p:cNvPicPr preferRelativeResize="0"/>
          <p:nvPr/>
        </p:nvPicPr>
        <p:blipFill>
          <a:blip r:embed="rId3">
            <a:alphaModFix/>
          </a:blip>
          <a:stretch>
            <a:fillRect/>
          </a:stretch>
        </p:blipFill>
        <p:spPr>
          <a:xfrm>
            <a:off x="5717674" y="2294975"/>
            <a:ext cx="3274499" cy="261961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sk" sz="2800">
                <a:solidFill>
                  <a:srgbClr val="82C7A5"/>
                </a:solidFill>
              </a:rPr>
              <a:t>Unauthorized course modification</a:t>
            </a:r>
            <a:endParaRPr sz="3200">
              <a:solidFill>
                <a:srgbClr val="82C7A5"/>
              </a:solidFill>
              <a:latin typeface="Montserrat Black"/>
              <a:ea typeface="Montserrat Black"/>
              <a:cs typeface="Montserrat Black"/>
              <a:sym typeface="Montserrat Black"/>
            </a:endParaRPr>
          </a:p>
        </p:txBody>
      </p:sp>
      <p:sp>
        <p:nvSpPr>
          <p:cNvPr id="212" name="Google Shape;212;p19"/>
          <p:cNvSpPr txBox="1"/>
          <p:nvPr>
            <p:ph idx="1" type="body"/>
          </p:nvPr>
        </p:nvSpPr>
        <p:spPr>
          <a:xfrm>
            <a:off x="1126925" y="2811300"/>
            <a:ext cx="3384300" cy="197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sk" sz="1500"/>
              <a:t>Solution: The architecture must be updated to bridge the Auth Service with the Scheduler API. This ensures that specific API calls related to teacher schedules and administrative tasks are strictly protected against unauthorized access.</a:t>
            </a:r>
            <a:endParaRPr sz="1700"/>
          </a:p>
          <a:p>
            <a:pPr indent="0" lvl="0" marL="457200" rtl="0" algn="l">
              <a:spcBef>
                <a:spcPts val="1200"/>
              </a:spcBef>
              <a:spcAft>
                <a:spcPts val="1200"/>
              </a:spcAft>
              <a:buNone/>
            </a:pPr>
            <a:r>
              <a:t/>
            </a:r>
            <a:endParaRPr sz="1500"/>
          </a:p>
        </p:txBody>
      </p:sp>
      <p:sp>
        <p:nvSpPr>
          <p:cNvPr id="213" name="Google Shape;213;p19"/>
          <p:cNvSpPr txBox="1"/>
          <p:nvPr/>
        </p:nvSpPr>
        <p:spPr>
          <a:xfrm rot="-5399233">
            <a:off x="-563277" y="2609787"/>
            <a:ext cx="2687700" cy="69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400"/>
              </a:spcAft>
              <a:buNone/>
            </a:pPr>
            <a:r>
              <a:rPr b="1" lang="sk" sz="2500">
                <a:solidFill>
                  <a:schemeClr val="lt2"/>
                </a:solidFill>
              </a:rPr>
              <a:t>SECURITY</a:t>
            </a:r>
            <a:endParaRPr b="1" sz="2500">
              <a:solidFill>
                <a:schemeClr val="lt2"/>
              </a:solidFill>
              <a:latin typeface="Montserrat"/>
              <a:ea typeface="Montserrat"/>
              <a:cs typeface="Montserrat"/>
              <a:sym typeface="Montserrat"/>
            </a:endParaRPr>
          </a:p>
        </p:txBody>
      </p:sp>
      <p:pic>
        <p:nvPicPr>
          <p:cNvPr id="214" name="Google Shape;214;p19"/>
          <p:cNvPicPr preferRelativeResize="0"/>
          <p:nvPr/>
        </p:nvPicPr>
        <p:blipFill>
          <a:blip r:embed="rId3">
            <a:alphaModFix/>
          </a:blip>
          <a:stretch>
            <a:fillRect/>
          </a:stretch>
        </p:blipFill>
        <p:spPr>
          <a:xfrm>
            <a:off x="6104531" y="1295976"/>
            <a:ext cx="2909744" cy="3495024"/>
          </a:xfrm>
          <a:prstGeom prst="rect">
            <a:avLst/>
          </a:prstGeom>
          <a:noFill/>
          <a:ln>
            <a:noFill/>
          </a:ln>
        </p:spPr>
      </p:pic>
      <p:sp>
        <p:nvSpPr>
          <p:cNvPr id="215" name="Google Shape;215;p19"/>
          <p:cNvSpPr/>
          <p:nvPr/>
        </p:nvSpPr>
        <p:spPr>
          <a:xfrm>
            <a:off x="532400" y="1600776"/>
            <a:ext cx="817500" cy="615600"/>
          </a:xfrm>
          <a:prstGeom prst="rect">
            <a:avLst/>
          </a:prstGeom>
          <a:solidFill>
            <a:schemeClr val="lt2"/>
          </a:solidFill>
          <a:ln cap="flat" cmpd="sng" w="7150">
            <a:solidFill>
              <a:schemeClr val="dk2"/>
            </a:solidFill>
            <a:prstDash val="solid"/>
            <a:round/>
            <a:headEnd len="sm" w="sm" type="none"/>
            <a:tailEnd len="sm" w="sm" type="none"/>
          </a:ln>
        </p:spPr>
        <p:txBody>
          <a:bodyPr anchorCtr="0" anchor="ctr" bIns="68625" lIns="68625" spcFirstLastPara="1" rIns="68625" wrap="square" tIns="68625">
            <a:noAutofit/>
          </a:bodyPr>
          <a:lstStyle/>
          <a:p>
            <a:pPr indent="0" lvl="0" marL="0" rtl="0" algn="ctr">
              <a:spcBef>
                <a:spcPts val="0"/>
              </a:spcBef>
              <a:spcAft>
                <a:spcPts val="0"/>
              </a:spcAft>
              <a:buNone/>
            </a:pPr>
            <a:r>
              <a:rPr lang="sk" sz="1050">
                <a:solidFill>
                  <a:schemeClr val="lt1"/>
                </a:solidFill>
                <a:latin typeface="Lato"/>
                <a:ea typeface="Lato"/>
                <a:cs typeface="Lato"/>
                <a:sym typeface="Lato"/>
              </a:rPr>
              <a:t>Student</a:t>
            </a:r>
            <a:endParaRPr sz="1050">
              <a:solidFill>
                <a:schemeClr val="lt1"/>
              </a:solidFill>
              <a:latin typeface="Lato"/>
              <a:ea typeface="Lato"/>
              <a:cs typeface="Lato"/>
              <a:sym typeface="Lato"/>
            </a:endParaRPr>
          </a:p>
        </p:txBody>
      </p:sp>
      <p:sp>
        <p:nvSpPr>
          <p:cNvPr id="216" name="Google Shape;216;p19"/>
          <p:cNvSpPr/>
          <p:nvPr/>
        </p:nvSpPr>
        <p:spPr>
          <a:xfrm>
            <a:off x="1350059" y="1846005"/>
            <a:ext cx="1307700" cy="125100"/>
          </a:xfrm>
          <a:prstGeom prst="rightArrow">
            <a:avLst>
              <a:gd fmla="val 28" name="adj1"/>
              <a:gd fmla="val 62117" name="adj2"/>
            </a:avLst>
          </a:prstGeom>
          <a:solidFill>
            <a:schemeClr val="lt2"/>
          </a:solidFill>
          <a:ln cap="flat" cmpd="sng" w="7150">
            <a:solidFill>
              <a:schemeClr val="dk2"/>
            </a:solidFill>
            <a:prstDash val="solid"/>
            <a:round/>
            <a:headEnd len="sm" w="sm" type="none"/>
            <a:tailEnd len="sm" w="sm" type="none"/>
          </a:ln>
        </p:spPr>
        <p:txBody>
          <a:bodyPr anchorCtr="0" anchor="ctr" bIns="68625" lIns="68625" spcFirstLastPara="1" rIns="68625" wrap="square" tIns="68625">
            <a:noAutofit/>
          </a:bodyPr>
          <a:lstStyle/>
          <a:p>
            <a:pPr indent="0" lvl="0" marL="0" rtl="0" algn="l">
              <a:spcBef>
                <a:spcPts val="0"/>
              </a:spcBef>
              <a:spcAft>
                <a:spcPts val="0"/>
              </a:spcAft>
              <a:buNone/>
            </a:pPr>
            <a:r>
              <a:t/>
            </a:r>
            <a:endParaRPr sz="1050">
              <a:solidFill>
                <a:schemeClr val="lt1"/>
              </a:solidFill>
              <a:latin typeface="Lato"/>
              <a:ea typeface="Lato"/>
              <a:cs typeface="Lato"/>
              <a:sym typeface="Lato"/>
            </a:endParaRPr>
          </a:p>
        </p:txBody>
      </p:sp>
      <p:sp>
        <p:nvSpPr>
          <p:cNvPr id="217" name="Google Shape;217;p19"/>
          <p:cNvSpPr txBox="1"/>
          <p:nvPr/>
        </p:nvSpPr>
        <p:spPr>
          <a:xfrm>
            <a:off x="1350059" y="1920936"/>
            <a:ext cx="1307700" cy="357900"/>
          </a:xfrm>
          <a:prstGeom prst="rect">
            <a:avLst/>
          </a:prstGeom>
          <a:noFill/>
          <a:ln>
            <a:noFill/>
          </a:ln>
        </p:spPr>
        <p:txBody>
          <a:bodyPr anchorCtr="0" anchor="t" bIns="68625" lIns="68625" spcFirstLastPara="1" rIns="68625" wrap="square" tIns="68625">
            <a:normAutofit fontScale="92500" lnSpcReduction="20000"/>
          </a:bodyPr>
          <a:lstStyle/>
          <a:p>
            <a:pPr indent="0" lvl="0" marL="0" rtl="0" algn="ctr">
              <a:spcBef>
                <a:spcPts val="0"/>
              </a:spcBef>
              <a:spcAft>
                <a:spcPts val="0"/>
              </a:spcAft>
              <a:buNone/>
            </a:pPr>
            <a:r>
              <a:rPr lang="sk" sz="975">
                <a:solidFill>
                  <a:schemeClr val="lt1"/>
                </a:solidFill>
                <a:latin typeface="Lato"/>
                <a:ea typeface="Lato"/>
                <a:cs typeface="Lato"/>
                <a:sym typeface="Lato"/>
              </a:rPr>
              <a:t>Call course registration API</a:t>
            </a:r>
            <a:endParaRPr sz="975">
              <a:solidFill>
                <a:schemeClr val="lt1"/>
              </a:solidFill>
              <a:latin typeface="Lato"/>
              <a:ea typeface="Lato"/>
              <a:cs typeface="Lato"/>
              <a:sym typeface="Lato"/>
            </a:endParaRPr>
          </a:p>
        </p:txBody>
      </p:sp>
      <p:sp>
        <p:nvSpPr>
          <p:cNvPr id="218" name="Google Shape;218;p19"/>
          <p:cNvSpPr/>
          <p:nvPr/>
        </p:nvSpPr>
        <p:spPr>
          <a:xfrm>
            <a:off x="2657653" y="1600786"/>
            <a:ext cx="875400" cy="615600"/>
          </a:xfrm>
          <a:prstGeom prst="rect">
            <a:avLst/>
          </a:prstGeom>
          <a:solidFill>
            <a:schemeClr val="lt2"/>
          </a:solidFill>
          <a:ln cap="flat" cmpd="sng" w="7150">
            <a:solidFill>
              <a:schemeClr val="dk2"/>
            </a:solidFill>
            <a:prstDash val="solid"/>
            <a:round/>
            <a:headEnd len="sm" w="sm" type="none"/>
            <a:tailEnd len="sm" w="sm" type="none"/>
          </a:ln>
        </p:spPr>
        <p:txBody>
          <a:bodyPr anchorCtr="0" anchor="ctr" bIns="68625" lIns="68625" spcFirstLastPara="1" rIns="68625" wrap="square" tIns="68625">
            <a:noAutofit/>
          </a:bodyPr>
          <a:lstStyle/>
          <a:p>
            <a:pPr indent="0" lvl="0" marL="0" rtl="0" algn="ctr">
              <a:spcBef>
                <a:spcPts val="0"/>
              </a:spcBef>
              <a:spcAft>
                <a:spcPts val="0"/>
              </a:spcAft>
              <a:buNone/>
            </a:pPr>
            <a:r>
              <a:rPr lang="sk" sz="1050">
                <a:solidFill>
                  <a:schemeClr val="lt1"/>
                </a:solidFill>
                <a:latin typeface="Lato"/>
                <a:ea typeface="Lato"/>
                <a:cs typeface="Lato"/>
                <a:sym typeface="Lato"/>
              </a:rPr>
              <a:t>Course Service</a:t>
            </a:r>
            <a:endParaRPr sz="1050">
              <a:solidFill>
                <a:schemeClr val="lt1"/>
              </a:solidFill>
              <a:latin typeface="Lato"/>
              <a:ea typeface="Lato"/>
              <a:cs typeface="Lato"/>
              <a:sym typeface="Lato"/>
            </a:endParaRPr>
          </a:p>
        </p:txBody>
      </p:sp>
      <p:sp>
        <p:nvSpPr>
          <p:cNvPr id="219" name="Google Shape;219;p19"/>
          <p:cNvSpPr/>
          <p:nvPr/>
        </p:nvSpPr>
        <p:spPr>
          <a:xfrm>
            <a:off x="3532885" y="1846005"/>
            <a:ext cx="1307700" cy="125100"/>
          </a:xfrm>
          <a:prstGeom prst="rightArrow">
            <a:avLst>
              <a:gd fmla="val 28" name="adj1"/>
              <a:gd fmla="val 62117" name="adj2"/>
            </a:avLst>
          </a:prstGeom>
          <a:solidFill>
            <a:schemeClr val="lt2"/>
          </a:solidFill>
          <a:ln cap="flat" cmpd="sng" w="7150">
            <a:solidFill>
              <a:schemeClr val="dk2"/>
            </a:solidFill>
            <a:prstDash val="solid"/>
            <a:round/>
            <a:headEnd len="sm" w="sm" type="none"/>
            <a:tailEnd len="sm" w="sm" type="none"/>
          </a:ln>
        </p:spPr>
        <p:txBody>
          <a:bodyPr anchorCtr="0" anchor="ctr" bIns="68625" lIns="68625" spcFirstLastPara="1" rIns="68625" wrap="square" tIns="68625">
            <a:noAutofit/>
          </a:bodyPr>
          <a:lstStyle/>
          <a:p>
            <a:pPr indent="0" lvl="0" marL="0" rtl="0" algn="l">
              <a:spcBef>
                <a:spcPts val="0"/>
              </a:spcBef>
              <a:spcAft>
                <a:spcPts val="0"/>
              </a:spcAft>
              <a:buNone/>
            </a:pPr>
            <a:r>
              <a:t/>
            </a:r>
            <a:endParaRPr sz="1050">
              <a:solidFill>
                <a:schemeClr val="lt1"/>
              </a:solidFill>
              <a:latin typeface="Lato"/>
              <a:ea typeface="Lato"/>
              <a:cs typeface="Lato"/>
              <a:sym typeface="Lato"/>
            </a:endParaRPr>
          </a:p>
        </p:txBody>
      </p:sp>
      <p:sp>
        <p:nvSpPr>
          <p:cNvPr id="220" name="Google Shape;220;p19"/>
          <p:cNvSpPr txBox="1"/>
          <p:nvPr/>
        </p:nvSpPr>
        <p:spPr>
          <a:xfrm>
            <a:off x="3532885" y="1920936"/>
            <a:ext cx="1307700" cy="357900"/>
          </a:xfrm>
          <a:prstGeom prst="rect">
            <a:avLst/>
          </a:prstGeom>
          <a:noFill/>
          <a:ln>
            <a:noFill/>
          </a:ln>
        </p:spPr>
        <p:txBody>
          <a:bodyPr anchorCtr="0" anchor="t" bIns="68625" lIns="68625" spcFirstLastPara="1" rIns="68625" wrap="square" tIns="68625">
            <a:normAutofit/>
          </a:bodyPr>
          <a:lstStyle/>
          <a:p>
            <a:pPr indent="0" lvl="0" marL="0" rtl="0" algn="ctr">
              <a:spcBef>
                <a:spcPts val="0"/>
              </a:spcBef>
              <a:spcAft>
                <a:spcPts val="0"/>
              </a:spcAft>
              <a:buNone/>
            </a:pPr>
            <a:r>
              <a:rPr lang="sk" sz="975">
                <a:solidFill>
                  <a:schemeClr val="lt1"/>
                </a:solidFill>
                <a:latin typeface="Lato"/>
                <a:ea typeface="Lato"/>
                <a:cs typeface="Lato"/>
                <a:sym typeface="Lato"/>
              </a:rPr>
              <a:t>Validate token</a:t>
            </a:r>
            <a:endParaRPr sz="975">
              <a:solidFill>
                <a:schemeClr val="lt1"/>
              </a:solidFill>
              <a:latin typeface="Lato"/>
              <a:ea typeface="Lato"/>
              <a:cs typeface="Lato"/>
              <a:sym typeface="Lato"/>
            </a:endParaRPr>
          </a:p>
        </p:txBody>
      </p:sp>
      <p:sp>
        <p:nvSpPr>
          <p:cNvPr id="221" name="Google Shape;221;p19"/>
          <p:cNvSpPr/>
          <p:nvPr/>
        </p:nvSpPr>
        <p:spPr>
          <a:xfrm>
            <a:off x="4840553" y="1600776"/>
            <a:ext cx="1192200" cy="615600"/>
          </a:xfrm>
          <a:prstGeom prst="rect">
            <a:avLst/>
          </a:prstGeom>
          <a:solidFill>
            <a:schemeClr val="lt2"/>
          </a:solidFill>
          <a:ln cap="flat" cmpd="sng" w="7150">
            <a:solidFill>
              <a:schemeClr val="dk2"/>
            </a:solidFill>
            <a:prstDash val="solid"/>
            <a:round/>
            <a:headEnd len="sm" w="sm" type="none"/>
            <a:tailEnd len="sm" w="sm" type="none"/>
          </a:ln>
        </p:spPr>
        <p:txBody>
          <a:bodyPr anchorCtr="0" anchor="ctr" bIns="68625" lIns="68625" spcFirstLastPara="1" rIns="68625" wrap="square" tIns="68625">
            <a:noAutofit/>
          </a:bodyPr>
          <a:lstStyle/>
          <a:p>
            <a:pPr indent="0" lvl="0" marL="0" rtl="0" algn="ctr">
              <a:spcBef>
                <a:spcPts val="0"/>
              </a:spcBef>
              <a:spcAft>
                <a:spcPts val="0"/>
              </a:spcAft>
              <a:buNone/>
            </a:pPr>
            <a:r>
              <a:rPr lang="sk" sz="1050">
                <a:solidFill>
                  <a:schemeClr val="lt1"/>
                </a:solidFill>
                <a:latin typeface="Lato"/>
                <a:ea typeface="Lato"/>
                <a:cs typeface="Lato"/>
                <a:sym typeface="Lato"/>
              </a:rPr>
              <a:t>http 403, prevent unauthorized action</a:t>
            </a:r>
            <a:endParaRPr sz="1050">
              <a:solidFill>
                <a:schemeClr val="lt1"/>
              </a:solidFill>
              <a:latin typeface="Lato"/>
              <a:ea typeface="Lato"/>
              <a:cs typeface="Lato"/>
              <a:sym typeface="Lato"/>
            </a:endParaRPr>
          </a:p>
        </p:txBody>
      </p:sp>
      <p:sp>
        <p:nvSpPr>
          <p:cNvPr id="222" name="Google Shape;222;p19"/>
          <p:cNvSpPr txBox="1"/>
          <p:nvPr/>
        </p:nvSpPr>
        <p:spPr>
          <a:xfrm>
            <a:off x="2396650" y="2278825"/>
            <a:ext cx="1397400" cy="3579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ctr">
              <a:spcBef>
                <a:spcPts val="0"/>
              </a:spcBef>
              <a:spcAft>
                <a:spcPts val="0"/>
              </a:spcAft>
              <a:buNone/>
            </a:pPr>
            <a:r>
              <a:rPr lang="sk" sz="1300">
                <a:solidFill>
                  <a:schemeClr val="lt1"/>
                </a:solidFill>
                <a:latin typeface="Lato"/>
                <a:ea typeface="Lato"/>
                <a:cs typeface="Lato"/>
                <a:sym typeface="Lato"/>
              </a:rPr>
              <a:t>Normal operation</a:t>
            </a:r>
            <a:endParaRPr sz="1300">
              <a:solidFill>
                <a:schemeClr val="l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0"/>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sk" sz="3600">
                <a:solidFill>
                  <a:srgbClr val="82C7A5"/>
                </a:solidFill>
                <a:latin typeface="Montserrat Black"/>
                <a:ea typeface="Montserrat Black"/>
                <a:cs typeface="Montserrat Black"/>
                <a:sym typeface="Montserrat Black"/>
              </a:rPr>
              <a:t>Thank you for</a:t>
            </a:r>
            <a:br>
              <a:rPr lang="sk" sz="3600">
                <a:solidFill>
                  <a:srgbClr val="82C7A5"/>
                </a:solidFill>
                <a:latin typeface="Montserrat Black"/>
                <a:ea typeface="Montserrat Black"/>
                <a:cs typeface="Montserrat Black"/>
                <a:sym typeface="Montserrat Black"/>
              </a:rPr>
            </a:br>
            <a:r>
              <a:rPr lang="sk" sz="3600">
                <a:solidFill>
                  <a:srgbClr val="82C7A5"/>
                </a:solidFill>
                <a:latin typeface="Montserrat Black"/>
                <a:ea typeface="Montserrat Black"/>
                <a:cs typeface="Montserrat Black"/>
                <a:sym typeface="Montserrat Black"/>
              </a:rPr>
              <a:t>your attention</a:t>
            </a:r>
            <a:endParaRPr sz="3600">
              <a:solidFill>
                <a:srgbClr val="82C7A5"/>
              </a:solidFill>
              <a:latin typeface="Montserrat Black"/>
              <a:ea typeface="Montserrat Black"/>
              <a:cs typeface="Montserrat Black"/>
              <a:sym typeface="Montserrat Blac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1"/>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sk" sz="3600">
                <a:solidFill>
                  <a:srgbClr val="82C7A5"/>
                </a:solidFill>
                <a:latin typeface="Montserrat Black"/>
                <a:ea typeface="Montserrat Black"/>
                <a:cs typeface="Montserrat Black"/>
                <a:sym typeface="Montserrat Black"/>
              </a:rPr>
              <a:t>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